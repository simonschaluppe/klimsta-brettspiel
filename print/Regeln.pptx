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8" r:id="rId3"/>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100" d="100"/>
          <a:sy n="100" d="100"/>
        </p:scale>
        <p:origin x="1044" y="-19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7D1AFE6-9524-4D6D-94EC-4219CB3DC181}" type="datetimeFigureOut">
              <a:rPr lang="de-DE" smtClean="0"/>
              <a:t>03.09.2026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23CBF52-A240-418F-B3BD-5142774C3D5C}" type="slidenum">
              <a:rPr lang="de-DE" smtClean="0"/>
              <a:t>‹#›</a:t>
            </a:fld>
            <a:endParaRPr lang="de-DE"/>
          </a:p>
        </p:txBody>
      </p:sp>
    </p:spTree>
    <p:extLst>
      <p:ext uri="{BB962C8B-B14F-4D97-AF65-F5344CB8AC3E}">
        <p14:creationId xmlns:p14="http://schemas.microsoft.com/office/powerpoint/2010/main" val="31958978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7D1AFE6-9524-4D6D-94EC-4219CB3DC181}" type="datetimeFigureOut">
              <a:rPr lang="de-DE" smtClean="0"/>
              <a:t>03.09.2026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23CBF52-A240-418F-B3BD-5142774C3D5C}" type="slidenum">
              <a:rPr lang="de-DE" smtClean="0"/>
              <a:t>‹#›</a:t>
            </a:fld>
            <a:endParaRPr lang="de-DE"/>
          </a:p>
        </p:txBody>
      </p:sp>
    </p:spTree>
    <p:extLst>
      <p:ext uri="{BB962C8B-B14F-4D97-AF65-F5344CB8AC3E}">
        <p14:creationId xmlns:p14="http://schemas.microsoft.com/office/powerpoint/2010/main" val="15561405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7D1AFE6-9524-4D6D-94EC-4219CB3DC181}" type="datetimeFigureOut">
              <a:rPr lang="de-DE" smtClean="0"/>
              <a:t>03.09.2026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23CBF52-A240-418F-B3BD-5142774C3D5C}" type="slidenum">
              <a:rPr lang="de-DE" smtClean="0"/>
              <a:t>‹#›</a:t>
            </a:fld>
            <a:endParaRPr lang="de-DE"/>
          </a:p>
        </p:txBody>
      </p:sp>
    </p:spTree>
    <p:extLst>
      <p:ext uri="{BB962C8B-B14F-4D97-AF65-F5344CB8AC3E}">
        <p14:creationId xmlns:p14="http://schemas.microsoft.com/office/powerpoint/2010/main" val="31688636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7D1AFE6-9524-4D6D-94EC-4219CB3DC181}" type="datetimeFigureOut">
              <a:rPr lang="de-DE" smtClean="0"/>
              <a:t>03.09.2026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123CBF52-A240-418F-B3BD-5142774C3D5C}" type="slidenum">
              <a:rPr lang="de-DE" smtClean="0"/>
              <a:t>‹#›</a:t>
            </a:fld>
            <a:endParaRPr lang="de-DE"/>
          </a:p>
        </p:txBody>
      </p:sp>
    </p:spTree>
    <p:extLst>
      <p:ext uri="{BB962C8B-B14F-4D97-AF65-F5344CB8AC3E}">
        <p14:creationId xmlns:p14="http://schemas.microsoft.com/office/powerpoint/2010/main" val="19385907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7D1AFE6-9524-4D6D-94EC-4219CB3DC181}" type="datetimeFigureOut">
              <a:rPr lang="de-DE" smtClean="0"/>
              <a:t>03.09.2026</a:t>
            </a:fld>
            <a:endParaRPr lang="de-DE"/>
          </a:p>
        </p:txBody>
      </p:sp>
      <p:sp>
        <p:nvSpPr>
          <p:cNvPr id="8" name="Footer Placeholder 7"/>
          <p:cNvSpPr>
            <a:spLocks noGrp="1"/>
          </p:cNvSpPr>
          <p:nvPr>
            <p:ph type="ftr" sz="quarter" idx="11"/>
          </p:nvPr>
        </p:nvSpPr>
        <p:spPr/>
        <p:txBody>
          <a:bodyPr/>
          <a:lstStyle/>
          <a:p>
            <a:endParaRPr lang="de-DE"/>
          </a:p>
        </p:txBody>
      </p:sp>
      <p:sp>
        <p:nvSpPr>
          <p:cNvPr id="9" name="Slide Number Placeholder 8"/>
          <p:cNvSpPr>
            <a:spLocks noGrp="1"/>
          </p:cNvSpPr>
          <p:nvPr>
            <p:ph type="sldNum" sz="quarter" idx="12"/>
          </p:nvPr>
        </p:nvSpPr>
        <p:spPr/>
        <p:txBody>
          <a:bodyPr/>
          <a:lstStyle/>
          <a:p>
            <a:fld id="{123CBF52-A240-418F-B3BD-5142774C3D5C}" type="slidenum">
              <a:rPr lang="de-DE" smtClean="0"/>
              <a:t>‹#›</a:t>
            </a:fld>
            <a:endParaRPr lang="de-DE"/>
          </a:p>
        </p:txBody>
      </p:sp>
    </p:spTree>
    <p:extLst>
      <p:ext uri="{BB962C8B-B14F-4D97-AF65-F5344CB8AC3E}">
        <p14:creationId xmlns:p14="http://schemas.microsoft.com/office/powerpoint/2010/main" val="1503449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7D1AFE6-9524-4D6D-94EC-4219CB3DC181}" type="datetimeFigureOut">
              <a:rPr lang="de-DE" smtClean="0"/>
              <a:t>03.09.2026</a:t>
            </a:fld>
            <a:endParaRPr lang="de-DE"/>
          </a:p>
        </p:txBody>
      </p:sp>
      <p:sp>
        <p:nvSpPr>
          <p:cNvPr id="4" name="Footer Placeholder 3"/>
          <p:cNvSpPr>
            <a:spLocks noGrp="1"/>
          </p:cNvSpPr>
          <p:nvPr>
            <p:ph type="ftr" sz="quarter" idx="11"/>
          </p:nvPr>
        </p:nvSpPr>
        <p:spPr/>
        <p:txBody>
          <a:bodyPr/>
          <a:lstStyle/>
          <a:p>
            <a:endParaRPr lang="de-DE"/>
          </a:p>
        </p:txBody>
      </p:sp>
      <p:sp>
        <p:nvSpPr>
          <p:cNvPr id="5" name="Slide Number Placeholder 4"/>
          <p:cNvSpPr>
            <a:spLocks noGrp="1"/>
          </p:cNvSpPr>
          <p:nvPr>
            <p:ph type="sldNum" sz="quarter" idx="12"/>
          </p:nvPr>
        </p:nvSpPr>
        <p:spPr/>
        <p:txBody>
          <a:bodyPr/>
          <a:lstStyle/>
          <a:p>
            <a:fld id="{123CBF52-A240-418F-B3BD-5142774C3D5C}" type="slidenum">
              <a:rPr lang="de-DE" smtClean="0"/>
              <a:t>‹#›</a:t>
            </a:fld>
            <a:endParaRPr lang="de-DE"/>
          </a:p>
        </p:txBody>
      </p:sp>
    </p:spTree>
    <p:extLst>
      <p:ext uri="{BB962C8B-B14F-4D97-AF65-F5344CB8AC3E}">
        <p14:creationId xmlns:p14="http://schemas.microsoft.com/office/powerpoint/2010/main" val="30065130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7D1AFE6-9524-4D6D-94EC-4219CB3DC181}" type="datetimeFigureOut">
              <a:rPr lang="de-DE" smtClean="0"/>
              <a:t>03.09.2026</a:t>
            </a:fld>
            <a:endParaRPr lang="de-DE"/>
          </a:p>
        </p:txBody>
      </p:sp>
      <p:sp>
        <p:nvSpPr>
          <p:cNvPr id="3" name="Footer Placeholder 2"/>
          <p:cNvSpPr>
            <a:spLocks noGrp="1"/>
          </p:cNvSpPr>
          <p:nvPr>
            <p:ph type="ftr" sz="quarter" idx="11"/>
          </p:nvPr>
        </p:nvSpPr>
        <p:spPr/>
        <p:txBody>
          <a:bodyPr/>
          <a:lstStyle/>
          <a:p>
            <a:endParaRPr lang="de-DE"/>
          </a:p>
        </p:txBody>
      </p:sp>
      <p:sp>
        <p:nvSpPr>
          <p:cNvPr id="4" name="Slide Number Placeholder 3"/>
          <p:cNvSpPr>
            <a:spLocks noGrp="1"/>
          </p:cNvSpPr>
          <p:nvPr>
            <p:ph type="sldNum" sz="quarter" idx="12"/>
          </p:nvPr>
        </p:nvSpPr>
        <p:spPr/>
        <p:txBody>
          <a:bodyPr/>
          <a:lstStyle/>
          <a:p>
            <a:fld id="{123CBF52-A240-418F-B3BD-5142774C3D5C}" type="slidenum">
              <a:rPr lang="de-DE" smtClean="0"/>
              <a:t>‹#›</a:t>
            </a:fld>
            <a:endParaRPr lang="de-DE"/>
          </a:p>
        </p:txBody>
      </p:sp>
    </p:spTree>
    <p:extLst>
      <p:ext uri="{BB962C8B-B14F-4D97-AF65-F5344CB8AC3E}">
        <p14:creationId xmlns:p14="http://schemas.microsoft.com/office/powerpoint/2010/main" val="2758277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7D1AFE6-9524-4D6D-94EC-4219CB3DC181}" type="datetimeFigureOut">
              <a:rPr lang="de-DE" smtClean="0"/>
              <a:t>03.09.2026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123CBF52-A240-418F-B3BD-5142774C3D5C}" type="slidenum">
              <a:rPr lang="de-DE" smtClean="0"/>
              <a:t>‹#›</a:t>
            </a:fld>
            <a:endParaRPr lang="de-DE"/>
          </a:p>
        </p:txBody>
      </p:sp>
    </p:spTree>
    <p:extLst>
      <p:ext uri="{BB962C8B-B14F-4D97-AF65-F5344CB8AC3E}">
        <p14:creationId xmlns:p14="http://schemas.microsoft.com/office/powerpoint/2010/main" val="10786550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7D1AFE6-9524-4D6D-94EC-4219CB3DC181}" type="datetimeFigureOut">
              <a:rPr lang="de-DE" smtClean="0"/>
              <a:t>03.09.2026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123CBF52-A240-418F-B3BD-5142774C3D5C}" type="slidenum">
              <a:rPr lang="de-DE" smtClean="0"/>
              <a:t>‹#›</a:t>
            </a:fld>
            <a:endParaRPr lang="de-DE"/>
          </a:p>
        </p:txBody>
      </p:sp>
    </p:spTree>
    <p:extLst>
      <p:ext uri="{BB962C8B-B14F-4D97-AF65-F5344CB8AC3E}">
        <p14:creationId xmlns:p14="http://schemas.microsoft.com/office/powerpoint/2010/main" val="25213471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7D1AFE6-9524-4D6D-94EC-4219CB3DC181}" type="datetimeFigureOut">
              <a:rPr lang="de-DE" smtClean="0"/>
              <a:t>03.09.2026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23CBF52-A240-418F-B3BD-5142774C3D5C}" type="slidenum">
              <a:rPr lang="de-DE" smtClean="0"/>
              <a:t>‹#›</a:t>
            </a:fld>
            <a:endParaRPr lang="de-DE"/>
          </a:p>
        </p:txBody>
      </p:sp>
    </p:spTree>
    <p:extLst>
      <p:ext uri="{BB962C8B-B14F-4D97-AF65-F5344CB8AC3E}">
        <p14:creationId xmlns:p14="http://schemas.microsoft.com/office/powerpoint/2010/main" val="13441542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7D1AFE6-9524-4D6D-94EC-4219CB3DC181}" type="datetimeFigureOut">
              <a:rPr lang="de-DE" smtClean="0"/>
              <a:t>03.09.2026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23CBF52-A240-418F-B3BD-5142774C3D5C}" type="slidenum">
              <a:rPr lang="de-DE" smtClean="0"/>
              <a:t>‹#›</a:t>
            </a:fld>
            <a:endParaRPr lang="de-DE"/>
          </a:p>
        </p:txBody>
      </p:sp>
    </p:spTree>
    <p:extLst>
      <p:ext uri="{BB962C8B-B14F-4D97-AF65-F5344CB8AC3E}">
        <p14:creationId xmlns:p14="http://schemas.microsoft.com/office/powerpoint/2010/main" val="38883031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47D1AFE6-9524-4D6D-94EC-4219CB3DC181}" type="datetimeFigureOut">
              <a:rPr lang="de-DE" smtClean="0"/>
              <a:t>03.09.2026</a:t>
            </a:fld>
            <a:endParaRPr lang="de-DE"/>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de-DE"/>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123CBF52-A240-418F-B3BD-5142774C3D5C}" type="slidenum">
              <a:rPr lang="de-DE" smtClean="0"/>
              <a:t>‹#›</a:t>
            </a:fld>
            <a:endParaRPr lang="de-DE"/>
          </a:p>
        </p:txBody>
      </p:sp>
    </p:spTree>
    <p:extLst>
      <p:ext uri="{BB962C8B-B14F-4D97-AF65-F5344CB8AC3E}">
        <p14:creationId xmlns:p14="http://schemas.microsoft.com/office/powerpoint/2010/main" val="391511113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681850-69B0-E7B2-1586-789F96B319C5}"/>
              </a:ext>
            </a:extLst>
          </p:cNvPr>
          <p:cNvSpPr txBox="1"/>
          <p:nvPr/>
        </p:nvSpPr>
        <p:spPr>
          <a:xfrm>
            <a:off x="171450" y="247650"/>
            <a:ext cx="6457950" cy="8833187"/>
          </a:xfrm>
          <a:prstGeom prst="rect">
            <a:avLst/>
          </a:prstGeom>
          <a:noFill/>
        </p:spPr>
        <p:txBody>
          <a:bodyPr wrap="square" rtlCol="0">
            <a:spAutoFit/>
          </a:bodyPr>
          <a:lstStyle/>
          <a:p>
            <a:r>
              <a:rPr lang="de-DE" sz="1400" dirty="0"/>
              <a:t>Material</a:t>
            </a:r>
          </a:p>
          <a:p>
            <a:r>
              <a:rPr lang="de-DE" sz="1100" dirty="0"/>
              <a:t>X Hauspläne</a:t>
            </a:r>
          </a:p>
          <a:p>
            <a:r>
              <a:rPr lang="de-DE" sz="1100" dirty="0"/>
              <a:t>X Wertungsbögen</a:t>
            </a:r>
          </a:p>
          <a:p>
            <a:r>
              <a:rPr lang="de-DE" sz="1100" dirty="0"/>
              <a:t>X Maßnahmenkarten</a:t>
            </a:r>
          </a:p>
          <a:p>
            <a:r>
              <a:rPr lang="de-DE" sz="1100" dirty="0"/>
              <a:t>X Trackingmarker</a:t>
            </a:r>
          </a:p>
          <a:p>
            <a:endParaRPr lang="de-DE" sz="1100" dirty="0"/>
          </a:p>
          <a:p>
            <a:r>
              <a:rPr lang="de-DE" sz="1400" dirty="0"/>
              <a:t>Idee</a:t>
            </a:r>
          </a:p>
          <a:p>
            <a:r>
              <a:rPr lang="de-DE" sz="1100" dirty="0"/>
              <a:t>In „Klimafitte Stadtsanierung“ renovieren die Spieler:innen allein oder in Gruppen ein Haus, indem sie verschiedene Sanierungsmaßnahmen setzen. In vier Runden setzen die Spieler:innen ihr Budget ein, um </a:t>
            </a:r>
            <a:r>
              <a:rPr lang="de-DE" sz="1100" b="1" dirty="0"/>
              <a:t>Maßnahmenkarten</a:t>
            </a:r>
            <a:r>
              <a:rPr lang="de-DE" sz="1100" dirty="0"/>
              <a:t> zu kaufen und so die Werte </a:t>
            </a:r>
            <a:r>
              <a:rPr lang="de-DE" sz="1100" i="1" dirty="0"/>
              <a:t>(Kennzahlen?)</a:t>
            </a:r>
            <a:r>
              <a:rPr lang="de-DE" sz="1100" dirty="0"/>
              <a:t> ihres Hauses zu verbessern. Jede </a:t>
            </a:r>
            <a:r>
              <a:rPr lang="de-DE" sz="1100" b="1" dirty="0"/>
              <a:t>Maßnahmenkarte</a:t>
            </a:r>
            <a:r>
              <a:rPr lang="de-DE" sz="1100" dirty="0"/>
              <a:t> stellt dabei eine Maßnahme zur Sanierung des Hauses dar. Zum Ende jeder Runde findet eine Wertungsphase statt, in der aus den Werten/Kennzahlen des Hauses </a:t>
            </a:r>
            <a:r>
              <a:rPr lang="de-DE" sz="1100" b="1" i="1" dirty="0"/>
              <a:t>Netzbezug</a:t>
            </a:r>
            <a:r>
              <a:rPr lang="de-DE" sz="1100" dirty="0"/>
              <a:t>, </a:t>
            </a:r>
            <a:r>
              <a:rPr lang="de-DE" sz="1100" b="1" i="1" dirty="0"/>
              <a:t>Budget</a:t>
            </a:r>
            <a:r>
              <a:rPr lang="de-DE" sz="1100" dirty="0"/>
              <a:t> und </a:t>
            </a:r>
            <a:r>
              <a:rPr lang="de-DE" sz="1100" b="1" i="1" dirty="0"/>
              <a:t>CO</a:t>
            </a:r>
            <a:r>
              <a:rPr lang="de-DE" sz="1100" b="1" i="1" baseline="-25000" dirty="0"/>
              <a:t>2</a:t>
            </a:r>
            <a:r>
              <a:rPr lang="de-DE" sz="1100" b="1" i="1" dirty="0"/>
              <a:t> Emissionen</a:t>
            </a:r>
            <a:r>
              <a:rPr lang="de-DE" sz="1100" dirty="0"/>
              <a:t> bestimmt werden. Am Ende der vierten und letzten Runde werden die </a:t>
            </a:r>
            <a:r>
              <a:rPr lang="de-DE" sz="1100" b="1" i="1" dirty="0"/>
              <a:t>CO</a:t>
            </a:r>
            <a:r>
              <a:rPr lang="de-DE" sz="1100" b="1" i="1" baseline="-25000" dirty="0"/>
              <a:t>2</a:t>
            </a:r>
            <a:r>
              <a:rPr lang="de-DE" sz="1100" b="1" i="1" dirty="0"/>
              <a:t> Emissionen</a:t>
            </a:r>
            <a:r>
              <a:rPr lang="de-DE" sz="1100" dirty="0"/>
              <a:t> summiert. Ziel des Spiels ist es, möglichst wenig </a:t>
            </a:r>
            <a:r>
              <a:rPr lang="de-DE" sz="1100" b="1" i="1" dirty="0"/>
              <a:t>CO</a:t>
            </a:r>
            <a:r>
              <a:rPr lang="de-DE" sz="1100" b="1" i="1" baseline="-25000" dirty="0"/>
              <a:t>2</a:t>
            </a:r>
            <a:r>
              <a:rPr lang="de-DE" sz="1100" b="1" i="1" dirty="0"/>
              <a:t> Emissionen</a:t>
            </a:r>
            <a:r>
              <a:rPr lang="de-DE" sz="1100" dirty="0"/>
              <a:t> zu produzieren und so den Klimawandel zu verlangsamen!</a:t>
            </a:r>
          </a:p>
          <a:p>
            <a:endParaRPr lang="de-DE" sz="1100" dirty="0"/>
          </a:p>
          <a:p>
            <a:r>
              <a:rPr lang="de-DE" sz="1400" dirty="0"/>
              <a:t>Aufbau</a:t>
            </a:r>
          </a:p>
          <a:p>
            <a:pPr marL="228600" indent="-228600">
              <a:buAutoNum type="arabicPeriod"/>
            </a:pPr>
            <a:r>
              <a:rPr lang="de-DE" sz="1100" dirty="0"/>
              <a:t>Jede Spieler:in legt die beiden Spielerbögen (</a:t>
            </a:r>
            <a:r>
              <a:rPr lang="de-DE" sz="1100" b="1" dirty="0"/>
              <a:t>Hausplan</a:t>
            </a:r>
            <a:r>
              <a:rPr lang="de-DE" sz="1100" dirty="0"/>
              <a:t> und </a:t>
            </a:r>
            <a:r>
              <a:rPr lang="de-DE" sz="1100" b="1" dirty="0"/>
              <a:t>Wertungsbogen</a:t>
            </a:r>
            <a:r>
              <a:rPr lang="de-DE" sz="1100" dirty="0"/>
              <a:t>) gut erreichbar bereit</a:t>
            </a:r>
          </a:p>
          <a:p>
            <a:pPr marL="228600" indent="-228600">
              <a:buAutoNum type="arabicPeriod"/>
            </a:pPr>
            <a:r>
              <a:rPr lang="de-DE" sz="1100" dirty="0"/>
              <a:t>Jede Spieler:in erhält elf </a:t>
            </a:r>
            <a:r>
              <a:rPr lang="de-DE" sz="1100" b="1" dirty="0"/>
              <a:t>Trackingmarker</a:t>
            </a:r>
            <a:r>
              <a:rPr lang="de-DE" sz="1100" dirty="0"/>
              <a:t> und platziert sie auf den markierten Startfeldern im </a:t>
            </a:r>
            <a:r>
              <a:rPr lang="de-DE" sz="1100" b="1" dirty="0"/>
              <a:t>Wertungsbogen</a:t>
            </a:r>
          </a:p>
          <a:p>
            <a:pPr marL="228600" indent="-228600">
              <a:buAutoNum type="arabicPeriod"/>
            </a:pPr>
            <a:r>
              <a:rPr lang="de-DE" sz="1100" dirty="0"/>
              <a:t>Jede Spieler:in erhält drei </a:t>
            </a:r>
            <a:r>
              <a:rPr lang="de-DE" sz="1100" b="1" i="1" dirty="0"/>
              <a:t>Budgeteinheiten</a:t>
            </a:r>
            <a:r>
              <a:rPr lang="de-DE" sz="1100" dirty="0"/>
              <a:t> aus dem Vorrat</a:t>
            </a:r>
          </a:p>
          <a:p>
            <a:pPr marL="228600" indent="-228600">
              <a:buFontTx/>
              <a:buAutoNum type="arabicPeriod"/>
            </a:pPr>
            <a:r>
              <a:rPr lang="de-DE" sz="1100" dirty="0"/>
              <a:t>Die </a:t>
            </a:r>
            <a:r>
              <a:rPr lang="de-DE" sz="1100" b="1" dirty="0"/>
              <a:t>Maßnahmenkarten</a:t>
            </a:r>
            <a:r>
              <a:rPr lang="de-DE" sz="1100" dirty="0"/>
              <a:t> werden nach ihrer Kategorie (an der Rückseite erkennbar) sortiert, gemischt und bereit gelegt</a:t>
            </a:r>
          </a:p>
          <a:p>
            <a:pPr marL="228600" indent="-228600">
              <a:buFontTx/>
              <a:buAutoNum type="arabicPeriod"/>
            </a:pPr>
            <a:r>
              <a:rPr lang="de-DE" sz="1100" dirty="0"/>
              <a:t>Es wird per Zufall ein Startspieler bestimmt.</a:t>
            </a:r>
          </a:p>
          <a:p>
            <a:endParaRPr lang="de-DE" sz="1100" dirty="0"/>
          </a:p>
          <a:p>
            <a:r>
              <a:rPr lang="de-DE" sz="1400" dirty="0"/>
              <a:t>Ablauf</a:t>
            </a:r>
            <a:endParaRPr lang="de-DE" sz="1100" dirty="0"/>
          </a:p>
          <a:p>
            <a:r>
              <a:rPr lang="de-DE" sz="1100" dirty="0"/>
              <a:t>Das Spiel läuft in vier Runden ab.</a:t>
            </a:r>
          </a:p>
          <a:p>
            <a:r>
              <a:rPr lang="de-DE" sz="1100" dirty="0"/>
              <a:t>Jede Runde hat zwei Phasen:</a:t>
            </a:r>
          </a:p>
          <a:p>
            <a:pPr marL="228600" indent="-228600">
              <a:buAutoNum type="arabicPeriod"/>
            </a:pPr>
            <a:r>
              <a:rPr lang="de-DE" sz="1100" dirty="0"/>
              <a:t>Renovierungsphase</a:t>
            </a:r>
          </a:p>
          <a:p>
            <a:pPr marL="228600" indent="-228600">
              <a:buAutoNum type="arabicPeriod"/>
            </a:pPr>
            <a:r>
              <a:rPr lang="de-DE" sz="1100" dirty="0"/>
              <a:t>Wertungsphase</a:t>
            </a:r>
          </a:p>
          <a:p>
            <a:endParaRPr lang="de-DE" sz="1100" dirty="0"/>
          </a:p>
          <a:p>
            <a:endParaRPr lang="de-DE" sz="1400" dirty="0"/>
          </a:p>
          <a:p>
            <a:r>
              <a:rPr lang="de-DE" sz="1400" dirty="0"/>
              <a:t>Renovierungsphase</a:t>
            </a:r>
          </a:p>
          <a:p>
            <a:r>
              <a:rPr lang="de-DE" sz="1100" dirty="0"/>
              <a:t>In der Renovierungsphase sind die Spieler:innen abwechselnd im Uhrzeigersinn am Zug. Wer am Zug ist wählt eine </a:t>
            </a:r>
            <a:r>
              <a:rPr lang="de-DE" sz="1100" b="1" dirty="0"/>
              <a:t>Maßnahmenkarte</a:t>
            </a:r>
            <a:r>
              <a:rPr lang="de-DE" sz="1100" dirty="0"/>
              <a:t> aus und installiert diese. Das läuft immer in den folgenden Schritten ab:</a:t>
            </a:r>
          </a:p>
          <a:p>
            <a:r>
              <a:rPr lang="de-DE" sz="1100" dirty="0"/>
              <a:t>	Auswahl – **********</a:t>
            </a:r>
          </a:p>
          <a:p>
            <a:r>
              <a:rPr lang="de-DE" sz="1100" dirty="0"/>
              <a:t>	Bedingungen prüfen – Manche Karten haben Bedingungen. Eine Karte kann nur gespielt werden, 	wenn die Bedingungen erfült sind. Außerdem darf je nach Kategorie uU nur eine Karte installiert 	werden. Um von einer solchen Kategorie eine Karte zu installieren, darf noch keine andere Karte 	dieser Kategorie installiert sein.</a:t>
            </a:r>
          </a:p>
          <a:p>
            <a:r>
              <a:rPr lang="de-DE" sz="1100" dirty="0"/>
              <a:t>	Kosten bezahlen – Die auf der Karte angegebenen Kosten werden in den Vorrat bezahlt.</a:t>
            </a:r>
          </a:p>
          <a:p>
            <a:r>
              <a:rPr lang="de-DE" sz="1100" dirty="0"/>
              <a:t>	Sofortemissionen abtragen – Manche Karten haben Sofortemissionen, also </a:t>
            </a:r>
            <a:r>
              <a:rPr lang="de-DE" sz="1100" b="1" i="1" dirty="0"/>
              <a:t>CO</a:t>
            </a:r>
            <a:r>
              <a:rPr lang="de-DE" sz="1100" b="1" i="1" baseline="-25000" dirty="0"/>
              <a:t>2</a:t>
            </a:r>
            <a:r>
              <a:rPr lang="de-DE" sz="1100" b="1" i="1" dirty="0"/>
              <a:t> Emissionen</a:t>
            </a:r>
            <a:r>
              <a:rPr lang="de-DE" sz="1100" dirty="0"/>
              <a:t>, die 	bei der Installation auf der Punkteleiste abgetragen werden. Diese werden jetzt abgetragen.</a:t>
            </a:r>
          </a:p>
          <a:p>
            <a:r>
              <a:rPr lang="de-DE" sz="1100" dirty="0"/>
              <a:t>	Werte/Kennzahlen aktualisieren – Die Symbole auf der Karte werden auf dem Wertungsbogen 	abgetragen. Dabei wird die passende Trackingleiste zu jedem Symbol gesucht und</a:t>
            </a:r>
          </a:p>
          <a:p>
            <a:r>
              <a:rPr lang="de-DE" sz="1100" dirty="0"/>
              <a:t>	der Trackingmarker entsprechend der Zahl verschoben. Dabei bedeutet </a:t>
            </a:r>
          </a:p>
          <a:p>
            <a:r>
              <a:rPr lang="de-DE" sz="1100" dirty="0"/>
              <a:t>	eine positive Zahl das Verschieben des Markers nach oben</a:t>
            </a:r>
          </a:p>
          <a:p>
            <a:r>
              <a:rPr lang="de-DE" sz="1100" dirty="0"/>
              <a:t>	und eine negative Zahl das Verschieben des Markers nach</a:t>
            </a:r>
          </a:p>
          <a:p>
            <a:r>
              <a:rPr lang="de-DE" sz="1100" dirty="0"/>
              <a:t>	unten.</a:t>
            </a:r>
          </a:p>
        </p:txBody>
      </p:sp>
      <p:sp>
        <p:nvSpPr>
          <p:cNvPr id="6" name="TextBox 5">
            <a:extLst>
              <a:ext uri="{FF2B5EF4-FFF2-40B4-BE49-F238E27FC236}">
                <a16:creationId xmlns:a16="http://schemas.microsoft.com/office/drawing/2014/main" id="{C50459ED-35BA-140C-FF29-9023C36C3D19}"/>
              </a:ext>
            </a:extLst>
          </p:cNvPr>
          <p:cNvSpPr txBox="1"/>
          <p:nvPr/>
        </p:nvSpPr>
        <p:spPr>
          <a:xfrm>
            <a:off x="3060834" y="4558336"/>
            <a:ext cx="3500588" cy="1354217"/>
          </a:xfrm>
          <a:prstGeom prst="rect">
            <a:avLst/>
          </a:prstGeom>
          <a:noFill/>
          <a:ln>
            <a:solidFill>
              <a:schemeClr val="tx1"/>
            </a:solidFill>
          </a:ln>
        </p:spPr>
        <p:txBody>
          <a:bodyPr wrap="square" rtlCol="0">
            <a:spAutoFit/>
          </a:bodyPr>
          <a:lstStyle/>
          <a:p>
            <a:r>
              <a:rPr lang="de-DE" sz="1000" dirty="0"/>
              <a:t>Maßnahmenkarten installieren</a:t>
            </a:r>
          </a:p>
          <a:p>
            <a:r>
              <a:rPr lang="de-DE" sz="900" dirty="0"/>
              <a:t>Während des Spiels renovieren die Spieler ihr Haus mit </a:t>
            </a:r>
            <a:r>
              <a:rPr lang="de-DE" sz="900" b="1" dirty="0"/>
              <a:t>Maßnahmenkarten</a:t>
            </a:r>
            <a:r>
              <a:rPr lang="de-DE" sz="900" dirty="0"/>
              <a:t>. Jede </a:t>
            </a:r>
            <a:r>
              <a:rPr lang="de-DE" sz="900" b="1" dirty="0"/>
              <a:t>Maßnahmenkarte</a:t>
            </a:r>
            <a:r>
              <a:rPr lang="de-DE" sz="900" dirty="0"/>
              <a:t> ist einer Kategorie zugeordnet. In den meisten Kategorien kann nur eine Maßnahme installiert werden. Die meisten </a:t>
            </a:r>
            <a:r>
              <a:rPr lang="de-DE" sz="900" b="1" dirty="0"/>
              <a:t>Maßnahmenkarten</a:t>
            </a:r>
            <a:r>
              <a:rPr lang="de-DE" sz="900" dirty="0"/>
              <a:t> erforden </a:t>
            </a:r>
            <a:r>
              <a:rPr lang="de-DE" sz="900" b="1" dirty="0"/>
              <a:t>Budget</a:t>
            </a:r>
            <a:r>
              <a:rPr lang="de-DE" sz="900" dirty="0"/>
              <a:t>. Manche können kostenfrei installiert werden, wenn die Kosten im Vergleich zu anderen Maßnahmen vernachlässigbar sind. Einige </a:t>
            </a:r>
            <a:r>
              <a:rPr lang="de-DE" sz="900" b="1" dirty="0"/>
              <a:t>Maßnahmenkarten</a:t>
            </a:r>
            <a:r>
              <a:rPr lang="de-DE" sz="900" dirty="0"/>
              <a:t> haben Bedingungen, die für ihre Installation erfüllt sein müssen.</a:t>
            </a:r>
          </a:p>
        </p:txBody>
      </p:sp>
      <p:pic>
        <p:nvPicPr>
          <p:cNvPr id="8" name="Picture 7">
            <a:extLst>
              <a:ext uri="{FF2B5EF4-FFF2-40B4-BE49-F238E27FC236}">
                <a16:creationId xmlns:a16="http://schemas.microsoft.com/office/drawing/2014/main" id="{92DDFAD2-C327-0639-14C9-6BA31753CE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45975" y="8173350"/>
            <a:ext cx="2240575" cy="1485000"/>
          </a:xfrm>
          <a:prstGeom prst="rect">
            <a:avLst/>
          </a:prstGeom>
        </p:spPr>
      </p:pic>
      <p:pic>
        <p:nvPicPr>
          <p:cNvPr id="10" name="Picture 9">
            <a:extLst>
              <a:ext uri="{FF2B5EF4-FFF2-40B4-BE49-F238E27FC236}">
                <a16:creationId xmlns:a16="http://schemas.microsoft.com/office/drawing/2014/main" id="{61967DC4-A361-75CC-07F7-71E2454B5674}"/>
              </a:ext>
            </a:extLst>
          </p:cNvPr>
          <p:cNvPicPr>
            <a:picLocks noChangeAspect="1"/>
          </p:cNvPicPr>
          <p:nvPr/>
        </p:nvPicPr>
        <p:blipFill>
          <a:blip r:embed="rId3"/>
          <a:stretch>
            <a:fillRect/>
          </a:stretch>
        </p:blipFill>
        <p:spPr>
          <a:xfrm>
            <a:off x="5257799" y="8573006"/>
            <a:ext cx="807175" cy="1127339"/>
          </a:xfrm>
          <a:prstGeom prst="rect">
            <a:avLst/>
          </a:prstGeom>
        </p:spPr>
      </p:pic>
    </p:spTree>
    <p:extLst>
      <p:ext uri="{BB962C8B-B14F-4D97-AF65-F5344CB8AC3E}">
        <p14:creationId xmlns:p14="http://schemas.microsoft.com/office/powerpoint/2010/main" val="31035178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562D5-0882-CC7C-63C6-BF208A7AF5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BB5080F-ACDE-805A-7367-4C5A7B61728E}"/>
              </a:ext>
            </a:extLst>
          </p:cNvPr>
          <p:cNvSpPr txBox="1"/>
          <p:nvPr/>
        </p:nvSpPr>
        <p:spPr>
          <a:xfrm>
            <a:off x="171450" y="247650"/>
            <a:ext cx="6457950" cy="6340197"/>
          </a:xfrm>
          <a:prstGeom prst="rect">
            <a:avLst/>
          </a:prstGeom>
          <a:noFill/>
        </p:spPr>
        <p:txBody>
          <a:bodyPr wrap="square" rtlCol="0">
            <a:spAutoFit/>
          </a:bodyPr>
          <a:lstStyle/>
          <a:p>
            <a:r>
              <a:rPr lang="de-DE" sz="1400" dirty="0"/>
              <a:t>Wertungsphase</a:t>
            </a:r>
          </a:p>
          <a:p>
            <a:r>
              <a:rPr lang="de-DE" sz="1100" dirty="0"/>
              <a:t>In der Wertungsphase wird der ökologische Fußabdruck </a:t>
            </a:r>
            <a:r>
              <a:rPr lang="de-DE" sz="1100" i="1" dirty="0"/>
              <a:t>(?)</a:t>
            </a:r>
            <a:r>
              <a:rPr lang="de-DE" sz="1100" dirty="0"/>
              <a:t> der Häuser der Spieler:innen bestimmt. Dazu werden die Trackingleisten abgerechnet und daraus der </a:t>
            </a:r>
            <a:r>
              <a:rPr lang="de-DE" sz="1100" b="1" i="1" dirty="0"/>
              <a:t>Netzbezug</a:t>
            </a:r>
            <a:r>
              <a:rPr lang="de-DE" sz="1100" dirty="0"/>
              <a:t>, die </a:t>
            </a:r>
            <a:r>
              <a:rPr lang="de-DE" sz="1100" b="1" i="1" dirty="0"/>
              <a:t>CO</a:t>
            </a:r>
            <a:r>
              <a:rPr lang="de-DE" sz="1100" b="1" i="1" baseline="-25000" dirty="0"/>
              <a:t>2</a:t>
            </a:r>
            <a:r>
              <a:rPr lang="de-DE" sz="1100" b="1" i="1" dirty="0"/>
              <a:t> Emissionen</a:t>
            </a:r>
            <a:r>
              <a:rPr lang="de-DE" sz="1100" dirty="0"/>
              <a:t>, und das </a:t>
            </a:r>
            <a:r>
              <a:rPr lang="de-DE" sz="1100" b="1" i="1" dirty="0"/>
              <a:t>Budget</a:t>
            </a:r>
            <a:r>
              <a:rPr lang="de-DE" sz="1100" dirty="0"/>
              <a:t> für die Folgerunden bestimmt.</a:t>
            </a:r>
          </a:p>
          <a:p>
            <a:r>
              <a:rPr lang="de-DE" sz="1200" b="1" i="1" dirty="0"/>
              <a:t>Netzbezug</a:t>
            </a:r>
            <a:r>
              <a:rPr lang="de-DE" sz="1200" dirty="0"/>
              <a:t> bestimmen</a:t>
            </a:r>
          </a:p>
          <a:p>
            <a:r>
              <a:rPr lang="de-DE" sz="1100" dirty="0"/>
              <a:t>Zuerst wird der </a:t>
            </a:r>
            <a:r>
              <a:rPr lang="de-DE" sz="1100" b="1" i="1" dirty="0"/>
              <a:t>Netzbezug</a:t>
            </a:r>
            <a:r>
              <a:rPr lang="de-DE" sz="1100" dirty="0"/>
              <a:t> bestimmt. Dazu schaust du auf die folgenden Trackingleisten und summierst die Werte:</a:t>
            </a:r>
          </a:p>
          <a:p>
            <a:r>
              <a:rPr lang="de-DE" sz="1100" b="1" i="1" dirty="0"/>
              <a:t>	Heiztabelle</a:t>
            </a:r>
            <a:r>
              <a:rPr lang="de-DE" sz="1100" dirty="0"/>
              <a:t> – Prüfe ob eine </a:t>
            </a:r>
            <a:r>
              <a:rPr lang="de-DE" sz="1100" i="1" dirty="0"/>
              <a:t>Wärmepumpe </a:t>
            </a:r>
            <a:r>
              <a:rPr lang="de-DE" sz="1100" dirty="0"/>
              <a:t>installiert ist. Falls ja, entsteht hier ein </a:t>
            </a:r>
            <a:r>
              <a:rPr lang="de-DE" sz="1100" b="1" i="1" dirty="0"/>
              <a:t>Netzbezug</a:t>
            </a:r>
          </a:p>
          <a:p>
            <a:r>
              <a:rPr lang="de-DE" sz="1100" i="1" dirty="0"/>
              <a:t>	</a:t>
            </a:r>
            <a:r>
              <a:rPr lang="de-DE" sz="1100" b="1" i="1" dirty="0"/>
              <a:t>Strombedarf </a:t>
            </a:r>
            <a:r>
              <a:rPr lang="de-DE" sz="1100" i="1" dirty="0"/>
              <a:t>– </a:t>
            </a:r>
            <a:r>
              <a:rPr lang="de-DE" sz="1100" dirty="0"/>
              <a:t>Hier entsteht immer ein </a:t>
            </a:r>
            <a:r>
              <a:rPr lang="de-DE" sz="1100" b="1" i="1" dirty="0"/>
              <a:t>Netzbezug</a:t>
            </a:r>
          </a:p>
          <a:p>
            <a:r>
              <a:rPr lang="de-DE" sz="1100" b="1" i="1" dirty="0"/>
              <a:t>	Stromproduktion</a:t>
            </a:r>
            <a:r>
              <a:rPr lang="de-DE" sz="1100" dirty="0"/>
              <a:t> – Falls du Maßnahmen zur </a:t>
            </a:r>
            <a:r>
              <a:rPr lang="de-DE" sz="1100" b="1" i="1" dirty="0"/>
              <a:t>Stromproduktion</a:t>
            </a:r>
            <a:r>
              <a:rPr lang="de-DE" sz="1100" dirty="0"/>
              <a:t> getroffen hast, kann hier der 	</a:t>
            </a:r>
            <a:r>
              <a:rPr lang="de-DE" sz="1100" b="1" i="1" dirty="0"/>
              <a:t>Netzbezug </a:t>
            </a:r>
            <a:r>
              <a:rPr lang="de-DE" sz="1100" dirty="0"/>
              <a:t>reduziert werden</a:t>
            </a:r>
          </a:p>
          <a:p>
            <a:r>
              <a:rPr lang="de-DE" sz="1100" b="1" i="1" dirty="0"/>
              <a:t>	Stromspeicher</a:t>
            </a:r>
            <a:r>
              <a:rPr lang="de-DE" sz="1100" dirty="0"/>
              <a:t> – Nur in Kombination mit der </a:t>
            </a:r>
            <a:r>
              <a:rPr lang="de-DE" sz="1100" b="1" i="1" dirty="0"/>
              <a:t>Stromproduktion </a:t>
            </a:r>
            <a:r>
              <a:rPr lang="de-DE" sz="1100" dirty="0"/>
              <a:t>kann hier </a:t>
            </a:r>
            <a:r>
              <a:rPr lang="de-DE" sz="1100" b="1" i="1" dirty="0"/>
              <a:t>Netzbezug </a:t>
            </a:r>
            <a:r>
              <a:rPr lang="de-DE" sz="1100" dirty="0"/>
              <a:t>eingespart 	werden</a:t>
            </a:r>
          </a:p>
          <a:p>
            <a:r>
              <a:rPr lang="de-DE" sz="1100" dirty="0"/>
              <a:t>Die Summe aus diesen Zahlen ergibt deinen Gesamt-</a:t>
            </a:r>
            <a:r>
              <a:rPr lang="de-DE" sz="1100" b="1" i="1" dirty="0"/>
              <a:t>Netzbezug</a:t>
            </a:r>
            <a:r>
              <a:rPr lang="de-DE" sz="1100" dirty="0"/>
              <a:t>. Auf der entsprechenden Tabelle kannst du ablesen wieviele </a:t>
            </a:r>
            <a:r>
              <a:rPr lang="de-DE" sz="1100" b="1" i="1" dirty="0"/>
              <a:t>CO</a:t>
            </a:r>
            <a:r>
              <a:rPr lang="de-DE" sz="1100" b="1" i="1" baseline="-25000" dirty="0"/>
              <a:t>2</a:t>
            </a:r>
            <a:r>
              <a:rPr lang="de-DE" sz="1100" b="1" i="1" dirty="0"/>
              <a:t> Emissionen</a:t>
            </a:r>
            <a:r>
              <a:rPr lang="de-DE" sz="1100" dirty="0"/>
              <a:t> dadurch entstehen und wie dein </a:t>
            </a:r>
            <a:r>
              <a:rPr lang="de-DE" sz="1100" b="1" i="1" dirty="0"/>
              <a:t>Budget</a:t>
            </a:r>
            <a:r>
              <a:rPr lang="de-DE" sz="1100" dirty="0"/>
              <a:t> für die Folgerunden beeinflusst wird.</a:t>
            </a:r>
          </a:p>
          <a:p>
            <a:r>
              <a:rPr lang="de-DE" sz="1400" b="1" i="1" dirty="0"/>
              <a:t>Budget </a:t>
            </a:r>
            <a:r>
              <a:rPr lang="de-DE" sz="1400" dirty="0"/>
              <a:t>bestimmen</a:t>
            </a:r>
          </a:p>
          <a:p>
            <a:r>
              <a:rPr lang="de-DE" sz="1100" dirty="0"/>
              <a:t>Als nächstes kann das </a:t>
            </a:r>
            <a:r>
              <a:rPr lang="de-DE" sz="1100" b="1" i="1" dirty="0"/>
              <a:t>Budget </a:t>
            </a:r>
            <a:r>
              <a:rPr lang="de-DE" sz="1100" dirty="0"/>
              <a:t>bestimmt werden. Dazu schaust du auf die folgenden Trackingleisten und summierst die Werte:</a:t>
            </a:r>
          </a:p>
          <a:p>
            <a:r>
              <a:rPr lang="de-DE" sz="1100" dirty="0"/>
              <a:t>	</a:t>
            </a:r>
            <a:r>
              <a:rPr lang="de-DE" sz="1100" b="1" i="1" dirty="0"/>
              <a:t>Zufriedenheit </a:t>
            </a:r>
            <a:r>
              <a:rPr lang="de-DE" sz="1100" dirty="0"/>
              <a:t>– Die Zufriedenheit der Mieter gibt auch die Zahlungswilligkeit an</a:t>
            </a:r>
          </a:p>
          <a:p>
            <a:r>
              <a:rPr lang="de-DE" sz="1100" b="1" i="1" dirty="0"/>
              <a:t>	Heiztabelle</a:t>
            </a:r>
            <a:r>
              <a:rPr lang="de-DE" sz="1100" dirty="0"/>
              <a:t> – Je nach </a:t>
            </a:r>
            <a:r>
              <a:rPr lang="de-DE" sz="1100" b="1" i="1" dirty="0"/>
              <a:t>Wärmeschutz</a:t>
            </a:r>
            <a:r>
              <a:rPr lang="de-DE" sz="1100" dirty="0"/>
              <a:t> und </a:t>
            </a:r>
            <a:r>
              <a:rPr lang="de-DE" sz="1100" b="1" i="1" dirty="0"/>
              <a:t>Heizsystem</a:t>
            </a:r>
            <a:r>
              <a:rPr lang="de-DE" sz="1100" dirty="0"/>
              <a:t> kann hier Geld eingespart werden</a:t>
            </a:r>
          </a:p>
          <a:p>
            <a:r>
              <a:rPr lang="de-DE" sz="1100" b="1" i="1" dirty="0"/>
              <a:t>	Netzbezug</a:t>
            </a:r>
            <a:r>
              <a:rPr lang="de-DE" sz="1100" dirty="0"/>
              <a:t> – Der </a:t>
            </a:r>
            <a:r>
              <a:rPr lang="de-DE" sz="1100" b="1" i="1" dirty="0"/>
              <a:t>Netzbezug</a:t>
            </a:r>
            <a:r>
              <a:rPr lang="de-DE" sz="1100" dirty="0"/>
              <a:t> aus dem vorherigen Schritt beeinflusst das </a:t>
            </a:r>
            <a:r>
              <a:rPr lang="de-DE" sz="1100" b="1" i="1" dirty="0"/>
              <a:t>Budget</a:t>
            </a:r>
          </a:p>
          <a:p>
            <a:r>
              <a:rPr lang="de-DE" sz="1400" b="1" i="1" dirty="0"/>
              <a:t>CO</a:t>
            </a:r>
            <a:r>
              <a:rPr lang="de-DE" sz="1400" b="1" i="1" baseline="-25000" dirty="0"/>
              <a:t>2</a:t>
            </a:r>
            <a:r>
              <a:rPr lang="de-DE" sz="1400" b="1" i="1" dirty="0"/>
              <a:t> Emissionen </a:t>
            </a:r>
            <a:r>
              <a:rPr lang="de-DE" sz="1400" dirty="0"/>
              <a:t>bestimmen</a:t>
            </a:r>
          </a:p>
          <a:p>
            <a:r>
              <a:rPr lang="de-DE" sz="1100" dirty="0"/>
              <a:t>Als letztes werden die verursachten Emissionen bestimmt. Dazu schaust du auf die folgenden Trackingleisten und trägst die Werte auf der Punkteliste </a:t>
            </a:r>
            <a:r>
              <a:rPr lang="de-DE" sz="1100" i="1" dirty="0"/>
              <a:t>(?)</a:t>
            </a:r>
            <a:r>
              <a:rPr lang="de-DE" sz="1100" dirty="0"/>
              <a:t> ab.</a:t>
            </a:r>
          </a:p>
          <a:p>
            <a:r>
              <a:rPr lang="de-DE" sz="1100" dirty="0"/>
              <a:t>	</a:t>
            </a:r>
            <a:r>
              <a:rPr lang="de-DE" sz="1100" b="1" i="1" dirty="0"/>
              <a:t>Heiztabelle</a:t>
            </a:r>
            <a:r>
              <a:rPr lang="de-DE" sz="1100" dirty="0"/>
              <a:t> – Aus der Kombination von </a:t>
            </a:r>
            <a:r>
              <a:rPr lang="de-DE" sz="1100" b="1" i="1" dirty="0"/>
              <a:t>Wärmeschutz</a:t>
            </a:r>
            <a:r>
              <a:rPr lang="de-DE" sz="1100" dirty="0"/>
              <a:t> und </a:t>
            </a:r>
            <a:r>
              <a:rPr lang="de-DE" sz="1100" b="1" i="1" dirty="0"/>
              <a:t>Heizsystem</a:t>
            </a:r>
            <a:r>
              <a:rPr lang="de-DE" sz="1100" dirty="0"/>
              <a:t> </a:t>
            </a:r>
            <a:r>
              <a:rPr lang="de-DE" sz="1100"/>
              <a:t>ergeben sich 	Emissionen</a:t>
            </a:r>
            <a:endParaRPr lang="de-DE" sz="1100" dirty="0"/>
          </a:p>
          <a:p>
            <a:r>
              <a:rPr lang="de-DE" sz="1100" dirty="0"/>
              <a:t>	</a:t>
            </a:r>
            <a:r>
              <a:rPr lang="de-DE" sz="1100" b="1" i="1" dirty="0"/>
              <a:t>Netzbezug</a:t>
            </a:r>
            <a:r>
              <a:rPr lang="de-DE" sz="1100" dirty="0"/>
              <a:t> – Aus dem </a:t>
            </a:r>
            <a:r>
              <a:rPr lang="de-DE" sz="1100" b="1" i="1" dirty="0"/>
              <a:t>Netzbezug</a:t>
            </a:r>
            <a:r>
              <a:rPr lang="de-DE" sz="1100" dirty="0"/>
              <a:t> aus dem ersten Wertungsschritt ergeben sich Emissionen</a:t>
            </a:r>
          </a:p>
          <a:p>
            <a:r>
              <a:rPr lang="de-DE" sz="1100" b="1" i="1" dirty="0"/>
              <a:t>	Betriebliche Emissionen</a:t>
            </a:r>
            <a:r>
              <a:rPr lang="de-DE" sz="1100" dirty="0"/>
              <a:t> – Die </a:t>
            </a:r>
            <a:r>
              <a:rPr lang="de-DE" sz="1100" b="1" i="1" dirty="0"/>
              <a:t>Betrieblichen Emissionen </a:t>
            </a:r>
            <a:r>
              <a:rPr lang="de-DE" sz="1100" dirty="0"/>
              <a:t>werden abgerechnet</a:t>
            </a:r>
          </a:p>
          <a:p>
            <a:endParaRPr lang="de-DE" sz="1100" dirty="0"/>
          </a:p>
          <a:p>
            <a:endParaRPr lang="de-DE" sz="1100" dirty="0"/>
          </a:p>
          <a:p>
            <a:r>
              <a:rPr lang="de-DE" sz="1100" dirty="0"/>
              <a:t>*****</a:t>
            </a:r>
          </a:p>
          <a:p>
            <a:r>
              <a:rPr lang="de-DE" sz="1100" dirty="0"/>
              <a:t>Auswahl – Die Spieler:in wählt eine Kategorie, also einen Maßnahmenstapel und schaut die obersten drei Karten an. Eine von diesen Karten darf, wenn möglich, installiert werden.</a:t>
            </a:r>
          </a:p>
          <a:p>
            <a:r>
              <a:rPr lang="de-DE" sz="1100" dirty="0"/>
              <a:t>Auswahl – Die Spieler:innen erhalten zu Beginn jeder Runde 7 Karten und dürfen in ihrem Zug eine der Karten auswählen und wenn möglich installieren.</a:t>
            </a:r>
          </a:p>
        </p:txBody>
      </p:sp>
    </p:spTree>
    <p:extLst>
      <p:ext uri="{BB962C8B-B14F-4D97-AF65-F5344CB8AC3E}">
        <p14:creationId xmlns:p14="http://schemas.microsoft.com/office/powerpoint/2010/main" val="118226851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820</Words>
  <Application>Microsoft Office PowerPoint</Application>
  <PresentationFormat>A4 Paper (210x297 mm)</PresentationFormat>
  <Paragraphs>60</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Aptos</vt:lpstr>
      <vt:lpstr>Aptos Display</vt:lpstr>
      <vt:lpstr>Arial</vt:lpstr>
      <vt:lpstr>Office Theme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Verweyen</dc:creator>
  <cp:lastModifiedBy>Thomas Verweyen</cp:lastModifiedBy>
  <cp:revision>1</cp:revision>
  <dcterms:created xsi:type="dcterms:W3CDTF">2026-09-03T04:37:59Z</dcterms:created>
  <dcterms:modified xsi:type="dcterms:W3CDTF">2026-09-03T06:43:38Z</dcterms:modified>
</cp:coreProperties>
</file>