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557" autoAdjust="0"/>
  </p:normalViewPr>
  <p:slideViewPr>
    <p:cSldViewPr snapToGrid="0">
      <p:cViewPr>
        <p:scale>
          <a:sx n="66" d="100"/>
          <a:sy n="66" d="100"/>
        </p:scale>
        <p:origin x="1812" y="-16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D1AFE6-9524-4D6D-94EC-4219CB3DC181}" type="datetimeFigureOut">
              <a:rPr lang="de-DE" smtClean="0"/>
              <a:t>03.09.2026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23CBF52-A240-418F-B3BD-5142774C3D5C}" type="slidenum">
              <a:rPr lang="de-DE" smtClean="0"/>
              <a:t>‹#›</a:t>
            </a:fld>
            <a:endParaRPr lang="de-DE"/>
          </a:p>
        </p:txBody>
      </p:sp>
    </p:spTree>
    <p:extLst>
      <p:ext uri="{BB962C8B-B14F-4D97-AF65-F5344CB8AC3E}">
        <p14:creationId xmlns:p14="http://schemas.microsoft.com/office/powerpoint/2010/main" val="3195897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D1AFE6-9524-4D6D-94EC-4219CB3DC181}" type="datetimeFigureOut">
              <a:rPr lang="de-DE" smtClean="0"/>
              <a:t>03.09.2026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23CBF52-A240-418F-B3BD-5142774C3D5C}" type="slidenum">
              <a:rPr lang="de-DE" smtClean="0"/>
              <a:t>‹#›</a:t>
            </a:fld>
            <a:endParaRPr lang="de-DE"/>
          </a:p>
        </p:txBody>
      </p:sp>
    </p:spTree>
    <p:extLst>
      <p:ext uri="{BB962C8B-B14F-4D97-AF65-F5344CB8AC3E}">
        <p14:creationId xmlns:p14="http://schemas.microsoft.com/office/powerpoint/2010/main" val="1556140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D1AFE6-9524-4D6D-94EC-4219CB3DC181}" type="datetimeFigureOut">
              <a:rPr lang="de-DE" smtClean="0"/>
              <a:t>03.09.2026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23CBF52-A240-418F-B3BD-5142774C3D5C}" type="slidenum">
              <a:rPr lang="de-DE" smtClean="0"/>
              <a:t>‹#›</a:t>
            </a:fld>
            <a:endParaRPr lang="de-DE"/>
          </a:p>
        </p:txBody>
      </p:sp>
    </p:spTree>
    <p:extLst>
      <p:ext uri="{BB962C8B-B14F-4D97-AF65-F5344CB8AC3E}">
        <p14:creationId xmlns:p14="http://schemas.microsoft.com/office/powerpoint/2010/main" val="3168863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D1AFE6-9524-4D6D-94EC-4219CB3DC181}" type="datetimeFigureOut">
              <a:rPr lang="de-DE" smtClean="0"/>
              <a:t>03.09.2026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123CBF52-A240-418F-B3BD-5142774C3D5C}" type="slidenum">
              <a:rPr lang="de-DE" smtClean="0"/>
              <a:t>‹#›</a:t>
            </a:fld>
            <a:endParaRPr lang="de-DE"/>
          </a:p>
        </p:txBody>
      </p:sp>
    </p:spTree>
    <p:extLst>
      <p:ext uri="{BB962C8B-B14F-4D97-AF65-F5344CB8AC3E}">
        <p14:creationId xmlns:p14="http://schemas.microsoft.com/office/powerpoint/2010/main" val="193859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D1AFE6-9524-4D6D-94EC-4219CB3DC181}" type="datetimeFigureOut">
              <a:rPr lang="de-DE" smtClean="0"/>
              <a:t>03.09.2026</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123CBF52-A240-418F-B3BD-5142774C3D5C}" type="slidenum">
              <a:rPr lang="de-DE" smtClean="0"/>
              <a:t>‹#›</a:t>
            </a:fld>
            <a:endParaRPr lang="de-DE"/>
          </a:p>
        </p:txBody>
      </p:sp>
    </p:spTree>
    <p:extLst>
      <p:ext uri="{BB962C8B-B14F-4D97-AF65-F5344CB8AC3E}">
        <p14:creationId xmlns:p14="http://schemas.microsoft.com/office/powerpoint/2010/main" val="1503449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D1AFE6-9524-4D6D-94EC-4219CB3DC181}" type="datetimeFigureOut">
              <a:rPr lang="de-DE" smtClean="0"/>
              <a:t>03.09.2026</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123CBF52-A240-418F-B3BD-5142774C3D5C}" type="slidenum">
              <a:rPr lang="de-DE" smtClean="0"/>
              <a:t>‹#›</a:t>
            </a:fld>
            <a:endParaRPr lang="de-DE"/>
          </a:p>
        </p:txBody>
      </p:sp>
    </p:spTree>
    <p:extLst>
      <p:ext uri="{BB962C8B-B14F-4D97-AF65-F5344CB8AC3E}">
        <p14:creationId xmlns:p14="http://schemas.microsoft.com/office/powerpoint/2010/main" val="3006513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D1AFE6-9524-4D6D-94EC-4219CB3DC181}" type="datetimeFigureOut">
              <a:rPr lang="de-DE" smtClean="0"/>
              <a:t>03.09.2026</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123CBF52-A240-418F-B3BD-5142774C3D5C}" type="slidenum">
              <a:rPr lang="de-DE" smtClean="0"/>
              <a:t>‹#›</a:t>
            </a:fld>
            <a:endParaRPr lang="de-DE"/>
          </a:p>
        </p:txBody>
      </p:sp>
    </p:spTree>
    <p:extLst>
      <p:ext uri="{BB962C8B-B14F-4D97-AF65-F5344CB8AC3E}">
        <p14:creationId xmlns:p14="http://schemas.microsoft.com/office/powerpoint/2010/main" val="2758277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7D1AFE6-9524-4D6D-94EC-4219CB3DC181}" type="datetimeFigureOut">
              <a:rPr lang="de-DE" smtClean="0"/>
              <a:t>03.09.2026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123CBF52-A240-418F-B3BD-5142774C3D5C}" type="slidenum">
              <a:rPr lang="de-DE" smtClean="0"/>
              <a:t>‹#›</a:t>
            </a:fld>
            <a:endParaRPr lang="de-DE"/>
          </a:p>
        </p:txBody>
      </p:sp>
    </p:spTree>
    <p:extLst>
      <p:ext uri="{BB962C8B-B14F-4D97-AF65-F5344CB8AC3E}">
        <p14:creationId xmlns:p14="http://schemas.microsoft.com/office/powerpoint/2010/main" val="1078655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7D1AFE6-9524-4D6D-94EC-4219CB3DC181}" type="datetimeFigureOut">
              <a:rPr lang="de-DE" smtClean="0"/>
              <a:t>03.09.2026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123CBF52-A240-418F-B3BD-5142774C3D5C}" type="slidenum">
              <a:rPr lang="de-DE" smtClean="0"/>
              <a:t>‹#›</a:t>
            </a:fld>
            <a:endParaRPr lang="de-DE"/>
          </a:p>
        </p:txBody>
      </p:sp>
    </p:spTree>
    <p:extLst>
      <p:ext uri="{BB962C8B-B14F-4D97-AF65-F5344CB8AC3E}">
        <p14:creationId xmlns:p14="http://schemas.microsoft.com/office/powerpoint/2010/main" val="2521347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D1AFE6-9524-4D6D-94EC-4219CB3DC181}" type="datetimeFigureOut">
              <a:rPr lang="de-DE" smtClean="0"/>
              <a:t>03.09.2026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23CBF52-A240-418F-B3BD-5142774C3D5C}" type="slidenum">
              <a:rPr lang="de-DE" smtClean="0"/>
              <a:t>‹#›</a:t>
            </a:fld>
            <a:endParaRPr lang="de-DE"/>
          </a:p>
        </p:txBody>
      </p:sp>
    </p:spTree>
    <p:extLst>
      <p:ext uri="{BB962C8B-B14F-4D97-AF65-F5344CB8AC3E}">
        <p14:creationId xmlns:p14="http://schemas.microsoft.com/office/powerpoint/2010/main" val="1344154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D1AFE6-9524-4D6D-94EC-4219CB3DC181}" type="datetimeFigureOut">
              <a:rPr lang="de-DE" smtClean="0"/>
              <a:t>03.09.2026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23CBF52-A240-418F-B3BD-5142774C3D5C}" type="slidenum">
              <a:rPr lang="de-DE" smtClean="0"/>
              <a:t>‹#›</a:t>
            </a:fld>
            <a:endParaRPr lang="de-DE"/>
          </a:p>
        </p:txBody>
      </p:sp>
    </p:spTree>
    <p:extLst>
      <p:ext uri="{BB962C8B-B14F-4D97-AF65-F5344CB8AC3E}">
        <p14:creationId xmlns:p14="http://schemas.microsoft.com/office/powerpoint/2010/main" val="3888303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47D1AFE6-9524-4D6D-94EC-4219CB3DC181}" type="datetimeFigureOut">
              <a:rPr lang="de-DE" smtClean="0"/>
              <a:t>03.09.2026</a:t>
            </a:fld>
            <a:endParaRPr lang="de-DE"/>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de-DE"/>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123CBF52-A240-418F-B3BD-5142774C3D5C}" type="slidenum">
              <a:rPr lang="de-DE" smtClean="0"/>
              <a:t>‹#›</a:t>
            </a:fld>
            <a:endParaRPr lang="de-DE"/>
          </a:p>
        </p:txBody>
      </p:sp>
    </p:spTree>
    <p:extLst>
      <p:ext uri="{BB962C8B-B14F-4D97-AF65-F5344CB8AC3E}">
        <p14:creationId xmlns:p14="http://schemas.microsoft.com/office/powerpoint/2010/main" val="391511113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681850-69B0-E7B2-1586-789F96B319C5}"/>
              </a:ext>
            </a:extLst>
          </p:cNvPr>
          <p:cNvSpPr txBox="1"/>
          <p:nvPr/>
        </p:nvSpPr>
        <p:spPr>
          <a:xfrm>
            <a:off x="171450" y="247650"/>
            <a:ext cx="6457950" cy="10187404"/>
          </a:xfrm>
          <a:prstGeom prst="rect">
            <a:avLst/>
          </a:prstGeom>
          <a:noFill/>
        </p:spPr>
        <p:txBody>
          <a:bodyPr wrap="square" rtlCol="0">
            <a:spAutoFit/>
          </a:bodyPr>
          <a:lstStyle/>
          <a:p>
            <a:r>
              <a:rPr lang="de-DE" sz="1400" dirty="0"/>
              <a:t>Material</a:t>
            </a:r>
          </a:p>
          <a:p>
            <a:r>
              <a:rPr lang="de-DE" sz="1100" dirty="0"/>
              <a:t>1 Hausplan			Version A: Zettel und Stift	VersionB:	11 Trackingmarker</a:t>
            </a:r>
          </a:p>
          <a:p>
            <a:r>
              <a:rPr lang="de-DE" sz="1100" dirty="0"/>
              <a:t>1 Wertungsbogen		Wertungstabelle - Vordruck			X Budget-Marker (genauer!)</a:t>
            </a:r>
          </a:p>
          <a:p>
            <a:r>
              <a:rPr lang="de-DE" sz="1100" dirty="0"/>
              <a:t>56 Maßnahmenkarten								X CO</a:t>
            </a:r>
            <a:r>
              <a:rPr lang="de-DE" sz="1100" baseline="-25000" dirty="0"/>
              <a:t>2</a:t>
            </a:r>
            <a:r>
              <a:rPr lang="de-DE" sz="1100" dirty="0"/>
              <a:t>-Marker (genauer!)</a:t>
            </a:r>
          </a:p>
          <a:p>
            <a:endParaRPr lang="de-DE" sz="1100" dirty="0"/>
          </a:p>
          <a:p>
            <a:r>
              <a:rPr lang="de-DE" sz="1400" dirty="0"/>
              <a:t>Idee</a:t>
            </a:r>
          </a:p>
          <a:p>
            <a:r>
              <a:rPr lang="de-DE" sz="1100" dirty="0"/>
              <a:t>In „Klimafitte Stadtsanierung“ wird ein Haus renoviert, indem verschiedene Sanierungsmaßnahmen gesetzt werden. Dabei arbeiten alle Mitspielenden gemeinsam am gleichen Sanierungsprojekt. In vier Runden setzen die Spieler:innen ihr Budget ein, um </a:t>
            </a:r>
            <a:r>
              <a:rPr lang="de-DE" sz="1100" b="1" dirty="0"/>
              <a:t>Maßnahmenkarten</a:t>
            </a:r>
            <a:r>
              <a:rPr lang="de-DE" sz="1100" dirty="0"/>
              <a:t> zu kaufen und so die Gebäudeeigenschaften ihres Hauses zu verbessern. Jede </a:t>
            </a:r>
            <a:r>
              <a:rPr lang="de-DE" sz="1100" b="1" dirty="0"/>
              <a:t>Maßnahmenkarte</a:t>
            </a:r>
            <a:r>
              <a:rPr lang="de-DE" sz="1100" dirty="0"/>
              <a:t> stellt dabei eine Maßnahme zur Sanierung des Hauses dar. Zum Ende jeder Runde findet eine Wertungsphase statt, in der aus den Gebäudeeigenschaften des Hauses </a:t>
            </a:r>
            <a:r>
              <a:rPr lang="de-DE" sz="1100" b="1" i="1" dirty="0"/>
              <a:t>Netzbezug</a:t>
            </a:r>
            <a:r>
              <a:rPr lang="de-DE" sz="1100" dirty="0"/>
              <a:t>, </a:t>
            </a:r>
            <a:r>
              <a:rPr lang="de-DE" sz="1100" b="1" i="1" dirty="0"/>
              <a:t>Budget</a:t>
            </a:r>
            <a:r>
              <a:rPr lang="de-DE" sz="1100" dirty="0"/>
              <a:t> und </a:t>
            </a:r>
            <a:r>
              <a:rPr lang="de-DE" sz="1100" b="1" i="1" dirty="0"/>
              <a:t>CO</a:t>
            </a:r>
            <a:r>
              <a:rPr lang="de-DE" sz="1100" b="1" i="1" baseline="-25000" dirty="0"/>
              <a:t>2</a:t>
            </a:r>
            <a:r>
              <a:rPr lang="de-DE" sz="1100" b="1" i="1" dirty="0"/>
              <a:t> Emissionen</a:t>
            </a:r>
            <a:r>
              <a:rPr lang="de-DE" sz="1100" dirty="0"/>
              <a:t> bestimmt werden. Am Ende der vierten und letzten Runde werden die </a:t>
            </a:r>
            <a:r>
              <a:rPr lang="de-DE" sz="1100" b="1" i="1" dirty="0"/>
              <a:t>CO</a:t>
            </a:r>
            <a:r>
              <a:rPr lang="de-DE" sz="1100" b="1" i="1" baseline="-25000" dirty="0"/>
              <a:t>2</a:t>
            </a:r>
            <a:r>
              <a:rPr lang="de-DE" sz="1100" b="1" i="1" dirty="0"/>
              <a:t> Emissionen</a:t>
            </a:r>
            <a:r>
              <a:rPr lang="de-DE" sz="1100" dirty="0"/>
              <a:t> summiert. Ziel des Spiels ist es, möglichst wenig </a:t>
            </a:r>
            <a:r>
              <a:rPr lang="de-DE" sz="1100" b="1" i="1" dirty="0"/>
              <a:t>CO</a:t>
            </a:r>
            <a:r>
              <a:rPr lang="de-DE" sz="1100" b="1" i="1" baseline="-25000" dirty="0"/>
              <a:t>2</a:t>
            </a:r>
            <a:r>
              <a:rPr lang="de-DE" sz="1100" b="1" i="1" dirty="0"/>
              <a:t> Emissionen</a:t>
            </a:r>
            <a:r>
              <a:rPr lang="de-DE" sz="1100" dirty="0"/>
              <a:t> zu produzieren und so den Klimawandel zu verlangsamen!</a:t>
            </a:r>
          </a:p>
          <a:p>
            <a:endParaRPr lang="de-DE" sz="1100" dirty="0"/>
          </a:p>
          <a:p>
            <a:r>
              <a:rPr lang="de-DE" sz="1400" dirty="0"/>
              <a:t>Aufbau</a:t>
            </a:r>
          </a:p>
          <a:p>
            <a:pPr marL="228600" indent="-228600">
              <a:buAutoNum type="arabicPeriod"/>
            </a:pPr>
            <a:r>
              <a:rPr lang="de-DE" sz="1100" dirty="0"/>
              <a:t>Die beiden Spielbögen (</a:t>
            </a:r>
            <a:r>
              <a:rPr lang="de-DE" sz="1100" b="1" dirty="0"/>
              <a:t>Hausplan</a:t>
            </a:r>
            <a:r>
              <a:rPr lang="de-DE" sz="1100" dirty="0"/>
              <a:t> und </a:t>
            </a:r>
            <a:r>
              <a:rPr lang="de-DE" sz="1100" b="1" dirty="0"/>
              <a:t>Wertungsbogen</a:t>
            </a:r>
            <a:r>
              <a:rPr lang="de-DE" sz="1100" dirty="0"/>
              <a:t>) werden gut erreichbar bereit gelegt</a:t>
            </a:r>
          </a:p>
          <a:p>
            <a:pPr marL="228600" indent="-228600">
              <a:buAutoNum type="arabicPeriod"/>
            </a:pPr>
            <a:r>
              <a:rPr lang="de-DE" sz="1100" dirty="0"/>
              <a:t>Zehn der elf </a:t>
            </a:r>
            <a:r>
              <a:rPr lang="de-DE" sz="1100" b="1" dirty="0"/>
              <a:t>Trackingmarker</a:t>
            </a:r>
            <a:r>
              <a:rPr lang="de-DE" sz="1100" dirty="0"/>
              <a:t> werden auf den markierten Startfeldern im </a:t>
            </a:r>
            <a:r>
              <a:rPr lang="de-DE" sz="1100" b="1" dirty="0"/>
              <a:t>Wertungsbogen</a:t>
            </a:r>
            <a:r>
              <a:rPr lang="de-DE" sz="1100" dirty="0"/>
              <a:t> platziert</a:t>
            </a:r>
          </a:p>
          <a:p>
            <a:pPr marL="228600" indent="-228600">
              <a:buAutoNum type="arabicPeriod"/>
            </a:pPr>
            <a:r>
              <a:rPr lang="de-DE" sz="1100" dirty="0"/>
              <a:t>Der elfte </a:t>
            </a:r>
            <a:r>
              <a:rPr lang="de-DE" sz="1100" b="1" dirty="0"/>
              <a:t>Trackingmarker </a:t>
            </a:r>
            <a:r>
              <a:rPr lang="de-DE" sz="1100" dirty="0"/>
              <a:t>wird erst bei Installation einer </a:t>
            </a:r>
            <a:r>
              <a:rPr lang="de-DE" sz="1100" i="1" dirty="0"/>
              <a:t>Wärmepumpe</a:t>
            </a:r>
            <a:r>
              <a:rPr lang="de-DE" sz="1100" dirty="0"/>
              <a:t> benötigt und wird erstmal zur Seite gelegt</a:t>
            </a:r>
          </a:p>
          <a:p>
            <a:pPr marL="228600" indent="-228600">
              <a:buAutoNum type="arabicPeriod"/>
            </a:pPr>
            <a:r>
              <a:rPr lang="de-DE" sz="1100" dirty="0"/>
              <a:t>Die Spieler:innen starten mit drei </a:t>
            </a:r>
            <a:r>
              <a:rPr lang="de-DE" sz="1100" b="1" i="1" dirty="0"/>
              <a:t>Budget</a:t>
            </a:r>
            <a:r>
              <a:rPr lang="de-DE" sz="1100" dirty="0"/>
              <a:t>-Einheiten aus dem Vorrat</a:t>
            </a:r>
          </a:p>
          <a:p>
            <a:pPr marL="228600" indent="-228600">
              <a:buFontTx/>
              <a:buAutoNum type="arabicPeriod"/>
            </a:pPr>
            <a:r>
              <a:rPr lang="de-DE" sz="1100" dirty="0"/>
              <a:t>Es wird einer der folgenden Spielmodi gewählt: Kreativ, Kooperativ, Experte</a:t>
            </a:r>
          </a:p>
          <a:p>
            <a:pPr marL="228600" indent="-228600">
              <a:buFontTx/>
              <a:buAutoNum type="arabicPeriod"/>
            </a:pPr>
            <a:r>
              <a:rPr lang="de-DE" sz="1100" dirty="0"/>
              <a:t>Abhängig vom Spielmodus werden die </a:t>
            </a:r>
            <a:r>
              <a:rPr lang="de-DE" sz="1100" b="1" dirty="0"/>
              <a:t>Maßnahmenkarten</a:t>
            </a:r>
            <a:r>
              <a:rPr lang="de-DE" sz="1100" dirty="0"/>
              <a:t> vorbereitet:</a:t>
            </a:r>
          </a:p>
          <a:p>
            <a:endParaRPr lang="de-DE" sz="1100" dirty="0"/>
          </a:p>
          <a:p>
            <a:endParaRPr lang="de-DE" sz="1100" dirty="0"/>
          </a:p>
          <a:p>
            <a:endParaRPr lang="de-DE" sz="1100" dirty="0"/>
          </a:p>
          <a:p>
            <a:endParaRPr lang="de-DE" sz="1100" dirty="0"/>
          </a:p>
          <a:p>
            <a:endParaRPr lang="de-DE" sz="1100" dirty="0"/>
          </a:p>
          <a:p>
            <a:endParaRPr lang="de-DE" sz="1100" dirty="0"/>
          </a:p>
          <a:p>
            <a:endParaRPr lang="de-DE" sz="1100" dirty="0"/>
          </a:p>
          <a:p>
            <a:endParaRPr lang="de-DE" sz="1100" dirty="0"/>
          </a:p>
          <a:p>
            <a:r>
              <a:rPr lang="de-DE" sz="1400" dirty="0"/>
              <a:t>Ablauf</a:t>
            </a:r>
            <a:endParaRPr lang="de-DE" sz="1100" dirty="0"/>
          </a:p>
          <a:p>
            <a:r>
              <a:rPr lang="de-DE" sz="1100" dirty="0"/>
              <a:t>Das Spiel läuft in vier Runden ab.</a:t>
            </a:r>
          </a:p>
          <a:p>
            <a:r>
              <a:rPr lang="de-DE" sz="1100" dirty="0"/>
              <a:t>Jede Runde hat zwei Phasen:</a:t>
            </a:r>
          </a:p>
          <a:p>
            <a:pPr marL="228600" indent="-228600">
              <a:buAutoNum type="arabicPeriod"/>
            </a:pPr>
            <a:r>
              <a:rPr lang="de-DE" sz="1100" dirty="0"/>
              <a:t>Renovierungsphase</a:t>
            </a:r>
          </a:p>
          <a:p>
            <a:pPr marL="228600" indent="-228600">
              <a:buAutoNum type="arabicPeriod"/>
            </a:pPr>
            <a:r>
              <a:rPr lang="de-DE" sz="1100" dirty="0"/>
              <a:t>Wertungsphase</a:t>
            </a:r>
            <a:endParaRPr lang="de-DE" sz="1400" dirty="0"/>
          </a:p>
          <a:p>
            <a:endParaRPr lang="de-DE" sz="1400" dirty="0"/>
          </a:p>
          <a:p>
            <a:r>
              <a:rPr lang="de-DE" sz="1400" dirty="0"/>
              <a:t>Renovierungsphase</a:t>
            </a:r>
          </a:p>
          <a:p>
            <a:r>
              <a:rPr lang="de-DE" sz="1100" dirty="0"/>
              <a:t>In der Renovierungsphase werden Maßnahmen gesetzt, um die Gebäudeeigenschaften zu verbessern. Über mehrere Züge werden </a:t>
            </a:r>
            <a:r>
              <a:rPr lang="de-DE" sz="1100" b="1" dirty="0"/>
              <a:t>Maßnahmenkarten</a:t>
            </a:r>
            <a:r>
              <a:rPr lang="de-DE" sz="1100" dirty="0"/>
              <a:t> ausgewählt und installiert. Je nach Spielmodus läuft die Auswahl der </a:t>
            </a:r>
            <a:r>
              <a:rPr lang="de-DE" sz="1100" b="1" dirty="0"/>
              <a:t>Maßnahmenkarten </a:t>
            </a:r>
            <a:r>
              <a:rPr lang="de-DE" sz="1100" dirty="0"/>
              <a:t>unterschiedlich ab. Die Installation einer </a:t>
            </a:r>
            <a:r>
              <a:rPr lang="de-DE" sz="1100" b="1" dirty="0"/>
              <a:t>Maßnahmenkarte </a:t>
            </a:r>
            <a:r>
              <a:rPr lang="de-DE" sz="1100" dirty="0"/>
              <a:t>ist allerdings immer gleich:</a:t>
            </a:r>
          </a:p>
          <a:p>
            <a:r>
              <a:rPr lang="de-DE" sz="1100" dirty="0"/>
              <a:t>	</a:t>
            </a:r>
            <a:r>
              <a:rPr lang="de-DE" sz="1100" u="sng" dirty="0"/>
              <a:t>Bedingungen prüfen</a:t>
            </a:r>
            <a:r>
              <a:rPr lang="de-DE" sz="1100" dirty="0"/>
              <a:t> – Manche Karten haben Bedingungen. Eine Karte kann nur gespielt werden, 	wenn die Bedingungen erfült sind. Außerdem darf je nach Kategorie uU nur eine Karte installiert 	werden. Um von einer solchen Kategorie eine Karte zu installieren, darf noch keine andere Karte 	dieser Kategorie installiert sein. Diese Kategorien sind aus dem </a:t>
            </a:r>
            <a:r>
              <a:rPr lang="de-DE" sz="1100" b="1" dirty="0"/>
              <a:t>Hausplan </a:t>
            </a:r>
            <a:r>
              <a:rPr lang="de-DE" sz="1100" dirty="0"/>
              <a:t>ersichtlich.</a:t>
            </a:r>
          </a:p>
          <a:p>
            <a:r>
              <a:rPr lang="de-DE" sz="1100" dirty="0"/>
              <a:t>	</a:t>
            </a:r>
            <a:r>
              <a:rPr lang="de-DE" sz="1100" u="sng" dirty="0"/>
              <a:t>Kosten bezahlen</a:t>
            </a:r>
            <a:r>
              <a:rPr lang="de-DE" sz="1100" dirty="0"/>
              <a:t> – Die auf der Karte angegebenen Kosten werden in den Vorrat bezahlt. Können 	die Kosten nicht bezahlt werden, darf die Karte nicht installiert werden.</a:t>
            </a:r>
          </a:p>
          <a:p>
            <a:r>
              <a:rPr lang="de-DE" sz="1100" dirty="0"/>
              <a:t>	</a:t>
            </a:r>
            <a:r>
              <a:rPr lang="de-DE" sz="1100" u="sng" dirty="0"/>
              <a:t>Sofortemissionen abtragen</a:t>
            </a:r>
            <a:r>
              <a:rPr lang="de-DE" sz="1100" dirty="0"/>
              <a:t> – Manche Karten haben Sofortemissionen, also </a:t>
            </a:r>
            <a:r>
              <a:rPr lang="de-DE" sz="1100" b="1" i="1" dirty="0"/>
              <a:t>CO</a:t>
            </a:r>
            <a:r>
              <a:rPr lang="de-DE" sz="1100" b="1" i="1" baseline="-25000" dirty="0"/>
              <a:t>2</a:t>
            </a:r>
            <a:r>
              <a:rPr lang="de-DE" sz="1100" b="1" i="1" dirty="0"/>
              <a:t> Emissionen</a:t>
            </a:r>
            <a:r>
              <a:rPr lang="de-DE" sz="1100" dirty="0"/>
              <a:t>, die 	bei der Installation entstehen. Diese werden jetzt in der Wertungstabelle bei der aktuellen Runde 	eingetragen.</a:t>
            </a:r>
          </a:p>
          <a:p>
            <a:r>
              <a:rPr lang="de-DE" sz="1100" dirty="0"/>
              <a:t>	</a:t>
            </a:r>
            <a:r>
              <a:rPr lang="de-DE" sz="1100" u="sng" dirty="0"/>
              <a:t>Gebäudeeigenschaften aktualisieren</a:t>
            </a:r>
            <a:r>
              <a:rPr lang="de-DE" sz="1100" dirty="0"/>
              <a:t> – Die Symbole auf der Karte werden auf dem 	Wertungsbogen abgetragen. Dabei wird die passende Trackingleiste zu jedem Symbol gesucht 	und der Trackingmarker entsprechend der Zahl verschoben. Dabei bedeutet 	eine positive Zahl 	das Verschieben des Markers nach oben und eine negative Zahl das Verschieben des Markers 	nach unten.</a:t>
            </a:r>
          </a:p>
        </p:txBody>
      </p:sp>
      <p:sp>
        <p:nvSpPr>
          <p:cNvPr id="6" name="TextBox 5">
            <a:extLst>
              <a:ext uri="{FF2B5EF4-FFF2-40B4-BE49-F238E27FC236}">
                <a16:creationId xmlns:a16="http://schemas.microsoft.com/office/drawing/2014/main" id="{C50459ED-35BA-140C-FF29-9023C36C3D19}"/>
              </a:ext>
            </a:extLst>
          </p:cNvPr>
          <p:cNvSpPr txBox="1"/>
          <p:nvPr/>
        </p:nvSpPr>
        <p:spPr>
          <a:xfrm>
            <a:off x="6629400" y="4242910"/>
            <a:ext cx="4333842" cy="2739211"/>
          </a:xfrm>
          <a:prstGeom prst="rect">
            <a:avLst/>
          </a:prstGeom>
          <a:noFill/>
          <a:ln>
            <a:solidFill>
              <a:schemeClr val="tx1"/>
            </a:solidFill>
          </a:ln>
        </p:spPr>
        <p:txBody>
          <a:bodyPr wrap="square" rtlCol="0">
            <a:spAutoFit/>
          </a:bodyPr>
          <a:lstStyle/>
          <a:p>
            <a:r>
              <a:rPr lang="de-DE" sz="1000" dirty="0"/>
              <a:t>Maßnahmenkarten installieren</a:t>
            </a:r>
          </a:p>
          <a:p>
            <a:r>
              <a:rPr lang="de-DE" sz="900" dirty="0"/>
              <a:t>Während des Spiels renovieren die Spieler ihr Haus mit </a:t>
            </a:r>
            <a:r>
              <a:rPr lang="de-DE" sz="900" b="1" dirty="0"/>
              <a:t>Maßnahmenkarten</a:t>
            </a:r>
            <a:r>
              <a:rPr lang="de-DE" sz="900" dirty="0"/>
              <a:t>. Jede </a:t>
            </a:r>
            <a:r>
              <a:rPr lang="de-DE" sz="900" b="1" dirty="0"/>
              <a:t>Maßnahmenkarte</a:t>
            </a:r>
            <a:r>
              <a:rPr lang="de-DE" sz="900" dirty="0"/>
              <a:t> ist einer Kategorie zugeordnet. In den meisten Kategorien kann nur eine Maßnahme installiert werden. Die meisten </a:t>
            </a:r>
            <a:r>
              <a:rPr lang="de-DE" sz="900" b="1" dirty="0"/>
              <a:t>Maßnahmenkarten</a:t>
            </a:r>
            <a:r>
              <a:rPr lang="de-DE" sz="900" dirty="0"/>
              <a:t> erforden </a:t>
            </a:r>
            <a:r>
              <a:rPr lang="de-DE" sz="900" b="1" dirty="0"/>
              <a:t>Budget</a:t>
            </a:r>
            <a:r>
              <a:rPr lang="de-DE" sz="900" dirty="0"/>
              <a:t>. Manche können kostenfrei installiert werden. Einige </a:t>
            </a:r>
            <a:r>
              <a:rPr lang="de-DE" sz="900" b="1" dirty="0"/>
              <a:t>Maßnahmenkarten</a:t>
            </a:r>
            <a:r>
              <a:rPr lang="de-DE" sz="900" dirty="0"/>
              <a:t> haben Bedingungen, die für ihre Installation erfüllt sein müssen.</a:t>
            </a:r>
          </a:p>
          <a:p>
            <a:r>
              <a:rPr lang="de-DE" sz="900" dirty="0"/>
              <a:t>Es gibt vier Bedingungstypen. </a:t>
            </a:r>
          </a:p>
          <a:p>
            <a:pPr marL="171450" indent="-171450">
              <a:buFontTx/>
              <a:buChar char="-"/>
            </a:pPr>
            <a:r>
              <a:rPr lang="de-DE" sz="900" dirty="0"/>
              <a:t>Alle Maßnahmen aus der Kategorie </a:t>
            </a:r>
            <a:r>
              <a:rPr lang="de-DE" sz="900" i="1" dirty="0"/>
              <a:t>Wärmeabgabe</a:t>
            </a:r>
            <a:r>
              <a:rPr lang="de-DE" sz="900" dirty="0"/>
              <a:t> haben eine </a:t>
            </a:r>
            <a:r>
              <a:rPr lang="de-DE" sz="900" b="1" i="1" dirty="0"/>
              <a:t>Wärmeschutz</a:t>
            </a:r>
            <a:r>
              <a:rPr lang="de-DE" sz="900" dirty="0"/>
              <a:t>-Voraussetzung, d.h. die Gebäudeeigenschaft Wärmeschutz muss mindestens diesen Wert erreicht haben.</a:t>
            </a:r>
          </a:p>
          <a:p>
            <a:pPr marL="171450" indent="-171450">
              <a:buFontTx/>
              <a:buChar char="-"/>
            </a:pPr>
            <a:r>
              <a:rPr lang="de-DE" sz="900" dirty="0"/>
              <a:t>Einige Maßnahmen benötigen eine </a:t>
            </a:r>
            <a:r>
              <a:rPr lang="de-DE" sz="900" i="1" dirty="0"/>
              <a:t>Wärmepumpe</a:t>
            </a:r>
            <a:r>
              <a:rPr lang="de-DE" sz="900" dirty="0"/>
              <a:t> (zB </a:t>
            </a:r>
            <a:r>
              <a:rPr lang="de-DE" sz="900" i="1" dirty="0"/>
              <a:t>Thermische Flexibilität </a:t>
            </a:r>
            <a:r>
              <a:rPr lang="de-DE" sz="900" dirty="0"/>
              <a:t>aus der Kategorie </a:t>
            </a:r>
            <a:r>
              <a:rPr lang="de-DE" sz="900" i="1" dirty="0"/>
              <a:t>Flexibilität</a:t>
            </a:r>
            <a:r>
              <a:rPr lang="de-DE" sz="900" dirty="0"/>
              <a:t>). Um diese Karten zu installieren muss vorher eine </a:t>
            </a:r>
            <a:r>
              <a:rPr lang="de-DE" sz="900" i="1" dirty="0"/>
              <a:t>Wärmepumpe </a:t>
            </a:r>
            <a:r>
              <a:rPr lang="de-DE" sz="900" dirty="0"/>
              <a:t>aus der Kategorie </a:t>
            </a:r>
            <a:r>
              <a:rPr lang="de-DE" sz="900" i="1" dirty="0"/>
              <a:t>Wärmeerzeugung</a:t>
            </a:r>
            <a:r>
              <a:rPr lang="de-DE" sz="900" dirty="0"/>
              <a:t> installiert werden.</a:t>
            </a:r>
          </a:p>
          <a:p>
            <a:pPr marL="171450" indent="-171450">
              <a:buFontTx/>
              <a:buChar char="-"/>
            </a:pPr>
            <a:r>
              <a:rPr lang="de-DE" sz="900" dirty="0"/>
              <a:t>Macnhe Maßnahmen sind direkt von anderen Maßnahmen abhängig, zB hat die Maßnahme </a:t>
            </a:r>
            <a:r>
              <a:rPr lang="de-DE" sz="900" i="1" dirty="0"/>
              <a:t>Bi-direktionales Laden </a:t>
            </a:r>
            <a:r>
              <a:rPr lang="de-DE" sz="900" dirty="0"/>
              <a:t>aus der Kategorie </a:t>
            </a:r>
            <a:r>
              <a:rPr lang="de-DE" sz="900" i="1" dirty="0"/>
              <a:t>Flexibilität </a:t>
            </a:r>
            <a:r>
              <a:rPr lang="de-DE" sz="900" dirty="0"/>
              <a:t>die Voraussetzung, dass entweder </a:t>
            </a:r>
            <a:r>
              <a:rPr lang="de-DE" sz="900" i="1" dirty="0"/>
              <a:t>Private Wallboxen</a:t>
            </a:r>
            <a:r>
              <a:rPr lang="de-DE" sz="900" dirty="0"/>
              <a:t> oder </a:t>
            </a:r>
            <a:r>
              <a:rPr lang="de-DE" sz="900" i="1" dirty="0"/>
              <a:t>Hausweiter E-Car Port</a:t>
            </a:r>
            <a:r>
              <a:rPr lang="de-DE" sz="900" dirty="0"/>
              <a:t> aus der Kategorie </a:t>
            </a:r>
            <a:r>
              <a:rPr lang="de-DE" sz="900" i="1" dirty="0"/>
              <a:t>Nutzungsqualität</a:t>
            </a:r>
            <a:r>
              <a:rPr lang="de-DE" sz="900" dirty="0"/>
              <a:t> installiert ist</a:t>
            </a:r>
          </a:p>
          <a:p>
            <a:pPr marL="171450" indent="-171450">
              <a:buFontTx/>
              <a:buChar char="-"/>
            </a:pPr>
            <a:r>
              <a:rPr lang="de-DE" sz="900" dirty="0"/>
              <a:t>Manche Maßnahmen schließen sich gegenseitig aus, zB die Maßnahmen </a:t>
            </a:r>
            <a:r>
              <a:rPr lang="de-DE" sz="900" i="1" dirty="0"/>
              <a:t>Großer Batteriespeicher</a:t>
            </a:r>
            <a:r>
              <a:rPr lang="de-DE" sz="900" dirty="0"/>
              <a:t> und </a:t>
            </a:r>
            <a:r>
              <a:rPr lang="de-DE" sz="900" i="1" dirty="0"/>
              <a:t>Kleiner Heimspeicher </a:t>
            </a:r>
            <a:r>
              <a:rPr lang="de-DE" sz="900" dirty="0"/>
              <a:t>aus der Kategorie </a:t>
            </a:r>
            <a:r>
              <a:rPr lang="de-DE" sz="900" i="1" dirty="0"/>
              <a:t>Flexibilität</a:t>
            </a:r>
          </a:p>
        </p:txBody>
      </p:sp>
      <p:pic>
        <p:nvPicPr>
          <p:cNvPr id="8" name="Picture 7">
            <a:extLst>
              <a:ext uri="{FF2B5EF4-FFF2-40B4-BE49-F238E27FC236}">
                <a16:creationId xmlns:a16="http://schemas.microsoft.com/office/drawing/2014/main" id="{92DDFAD2-C327-0639-14C9-6BA31753CE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53831" y="7451455"/>
            <a:ext cx="2240575" cy="1485000"/>
          </a:xfrm>
          <a:prstGeom prst="rect">
            <a:avLst/>
          </a:prstGeom>
        </p:spPr>
      </p:pic>
      <p:pic>
        <p:nvPicPr>
          <p:cNvPr id="10" name="Picture 9">
            <a:extLst>
              <a:ext uri="{FF2B5EF4-FFF2-40B4-BE49-F238E27FC236}">
                <a16:creationId xmlns:a16="http://schemas.microsoft.com/office/drawing/2014/main" id="{61967DC4-A361-75CC-07F7-71E2454B5674}"/>
              </a:ext>
            </a:extLst>
          </p:cNvPr>
          <p:cNvPicPr>
            <a:picLocks noChangeAspect="1"/>
          </p:cNvPicPr>
          <p:nvPr/>
        </p:nvPicPr>
        <p:blipFill>
          <a:blip r:embed="rId3"/>
          <a:stretch>
            <a:fillRect/>
          </a:stretch>
        </p:blipFill>
        <p:spPr>
          <a:xfrm>
            <a:off x="7192477" y="8043617"/>
            <a:ext cx="807175" cy="1127339"/>
          </a:xfrm>
          <a:prstGeom prst="rect">
            <a:avLst/>
          </a:prstGeom>
        </p:spPr>
      </p:pic>
      <p:graphicFrame>
        <p:nvGraphicFramePr>
          <p:cNvPr id="2" name="Table 1">
            <a:extLst>
              <a:ext uri="{FF2B5EF4-FFF2-40B4-BE49-F238E27FC236}">
                <a16:creationId xmlns:a16="http://schemas.microsoft.com/office/drawing/2014/main" id="{59E9A484-568D-CA8B-F223-98A6D6D9A2F7}"/>
              </a:ext>
            </a:extLst>
          </p:cNvPr>
          <p:cNvGraphicFramePr>
            <a:graphicFrameLocks noGrp="1"/>
          </p:cNvGraphicFramePr>
          <p:nvPr>
            <p:extLst>
              <p:ext uri="{D42A27DB-BD31-4B8C-83A1-F6EECF244321}">
                <p14:modId xmlns:p14="http://schemas.microsoft.com/office/powerpoint/2010/main" val="763873544"/>
              </p:ext>
            </p:extLst>
          </p:nvPr>
        </p:nvGraphicFramePr>
        <p:xfrm>
          <a:off x="717684" y="4338961"/>
          <a:ext cx="5143366" cy="1112520"/>
        </p:xfrm>
        <a:graphic>
          <a:graphicData uri="http://schemas.openxmlformats.org/drawingml/2006/table">
            <a:tbl>
              <a:tblPr>
                <a:tableStyleId>{5C22544A-7EE6-4342-B048-85BDC9FD1C3A}</a:tableStyleId>
              </a:tblPr>
              <a:tblGrid>
                <a:gridCol w="965066">
                  <a:extLst>
                    <a:ext uri="{9D8B030D-6E8A-4147-A177-3AD203B41FA5}">
                      <a16:colId xmlns:a16="http://schemas.microsoft.com/office/drawing/2014/main" val="605022111"/>
                    </a:ext>
                  </a:extLst>
                </a:gridCol>
                <a:gridCol w="4178300">
                  <a:extLst>
                    <a:ext uri="{9D8B030D-6E8A-4147-A177-3AD203B41FA5}">
                      <a16:colId xmlns:a16="http://schemas.microsoft.com/office/drawing/2014/main" val="3735776512"/>
                    </a:ext>
                  </a:extLst>
                </a:gridCol>
              </a:tblGrid>
              <a:tr h="0">
                <a:tc>
                  <a:txBody>
                    <a:bodyPr/>
                    <a:lstStyle/>
                    <a:p>
                      <a:r>
                        <a:rPr lang="de-DE" sz="1100" dirty="0"/>
                        <a:t>Kreativ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e-DE" sz="1100" dirty="0"/>
                        <a:t>Lege alle </a:t>
                      </a:r>
                      <a:r>
                        <a:rPr lang="de-DE" sz="1100" b="1" i="0" dirty="0"/>
                        <a:t>Maßnahmenkarten </a:t>
                      </a:r>
                      <a:r>
                        <a:rPr lang="de-DE" sz="1100" dirty="0"/>
                        <a:t>nach ihren Kategorien sortiert gut erreichbar bereit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35143794"/>
                  </a:ext>
                </a:extLst>
              </a:tr>
              <a:tr h="0">
                <a:tc>
                  <a:txBody>
                    <a:bodyPr/>
                    <a:lstStyle/>
                    <a:p>
                      <a:r>
                        <a:rPr lang="de-DE" sz="1100" dirty="0"/>
                        <a:t>Kooperativ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e-DE" sz="1100" dirty="0"/>
                        <a:t>Mische alle </a:t>
                      </a:r>
                      <a:r>
                        <a:rPr lang="de-DE" sz="1100" b="1" dirty="0"/>
                        <a:t>Maßnahmenkarten</a:t>
                      </a:r>
                      <a:r>
                        <a:rPr lang="de-DE" sz="1100" dirty="0"/>
                        <a:t> zu einem Stapel zusammen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90778960"/>
                  </a:ext>
                </a:extLst>
              </a:tr>
              <a:tr h="0">
                <a:tc>
                  <a:txBody>
                    <a:bodyPr/>
                    <a:lstStyle/>
                    <a:p>
                      <a:r>
                        <a:rPr lang="de-DE" sz="1100" dirty="0"/>
                        <a:t>Experte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e-DE" sz="1100" dirty="0"/>
                        <a:t>Sortiere die </a:t>
                      </a:r>
                      <a:r>
                        <a:rPr lang="de-DE" sz="1100" b="1" dirty="0"/>
                        <a:t>Maßnahmenkarten</a:t>
                      </a:r>
                      <a:r>
                        <a:rPr lang="de-DE" sz="1100" dirty="0"/>
                        <a:t> nach ihren Kategorien, mische die Stapel und lege sie bereit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12053512"/>
                  </a:ext>
                </a:extLst>
              </a:tr>
            </a:tbl>
          </a:graphicData>
        </a:graphic>
      </p:graphicFrame>
      <p:graphicFrame>
        <p:nvGraphicFramePr>
          <p:cNvPr id="5" name="Table 4">
            <a:extLst>
              <a:ext uri="{FF2B5EF4-FFF2-40B4-BE49-F238E27FC236}">
                <a16:creationId xmlns:a16="http://schemas.microsoft.com/office/drawing/2014/main" id="{D8C1EE85-FDE6-D8A3-E27A-D2B7CA485A2A}"/>
              </a:ext>
            </a:extLst>
          </p:cNvPr>
          <p:cNvGraphicFramePr>
            <a:graphicFrameLocks noGrp="1"/>
          </p:cNvGraphicFramePr>
          <p:nvPr>
            <p:extLst>
              <p:ext uri="{D42A27DB-BD31-4B8C-83A1-F6EECF244321}">
                <p14:modId xmlns:p14="http://schemas.microsoft.com/office/powerpoint/2010/main" val="3688974549"/>
              </p:ext>
            </p:extLst>
          </p:nvPr>
        </p:nvGraphicFramePr>
        <p:xfrm>
          <a:off x="-5029066" y="6740894"/>
          <a:ext cx="5143366" cy="944880"/>
        </p:xfrm>
        <a:graphic>
          <a:graphicData uri="http://schemas.openxmlformats.org/drawingml/2006/table">
            <a:tbl>
              <a:tblPr>
                <a:tableStyleId>{5C22544A-7EE6-4342-B048-85BDC9FD1C3A}</a:tableStyleId>
              </a:tblPr>
              <a:tblGrid>
                <a:gridCol w="965066">
                  <a:extLst>
                    <a:ext uri="{9D8B030D-6E8A-4147-A177-3AD203B41FA5}">
                      <a16:colId xmlns:a16="http://schemas.microsoft.com/office/drawing/2014/main" val="605022111"/>
                    </a:ext>
                  </a:extLst>
                </a:gridCol>
                <a:gridCol w="4178300">
                  <a:extLst>
                    <a:ext uri="{9D8B030D-6E8A-4147-A177-3AD203B41FA5}">
                      <a16:colId xmlns:a16="http://schemas.microsoft.com/office/drawing/2014/main" val="3735776512"/>
                    </a:ext>
                  </a:extLst>
                </a:gridCol>
              </a:tblGrid>
              <a:tr h="0">
                <a:tc>
                  <a:txBody>
                    <a:bodyPr/>
                    <a:lstStyle/>
                    <a:p>
                      <a:r>
                        <a:rPr lang="de-DE" sz="1100" dirty="0"/>
                        <a:t>Kreativ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e-DE" sz="1100" dirty="0"/>
                        <a:t>Alle Maßnahmenkarten stehen zur Verfügung.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35143794"/>
                  </a:ext>
                </a:extLst>
              </a:tr>
              <a:tr h="0">
                <a:tc>
                  <a:txBody>
                    <a:bodyPr/>
                    <a:lstStyle/>
                    <a:p>
                      <a:r>
                        <a:rPr lang="de-DE" sz="1100" dirty="0"/>
                        <a:t>Kooperativ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e-DE" sz="1100" dirty="0"/>
                        <a:t>Mische alle </a:t>
                      </a:r>
                      <a:r>
                        <a:rPr lang="de-DE" sz="1100" b="1" dirty="0"/>
                        <a:t>Maßnahmenkarten</a:t>
                      </a:r>
                      <a:r>
                        <a:rPr lang="de-DE" sz="1100" dirty="0"/>
                        <a:t> zu einem Stapel zusammen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90778960"/>
                  </a:ext>
                </a:extLst>
              </a:tr>
              <a:tr h="0">
                <a:tc>
                  <a:txBody>
                    <a:bodyPr/>
                    <a:lstStyle/>
                    <a:p>
                      <a:r>
                        <a:rPr lang="de-DE" sz="1100" dirty="0"/>
                        <a:t>Experte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e-DE" sz="1100" dirty="0"/>
                        <a:t>Sortiere die </a:t>
                      </a:r>
                      <a:r>
                        <a:rPr lang="de-DE" sz="1100" b="1" dirty="0"/>
                        <a:t>Maßnahmenkarten</a:t>
                      </a:r>
                      <a:r>
                        <a:rPr lang="de-DE" sz="1100" dirty="0"/>
                        <a:t> nach ihren Kategorien, mische die Stapel und lege sie bereit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12053512"/>
                  </a:ext>
                </a:extLst>
              </a:tr>
            </a:tbl>
          </a:graphicData>
        </a:graphic>
      </p:graphicFrame>
    </p:spTree>
    <p:extLst>
      <p:ext uri="{BB962C8B-B14F-4D97-AF65-F5344CB8AC3E}">
        <p14:creationId xmlns:p14="http://schemas.microsoft.com/office/powerpoint/2010/main" val="3103517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562D5-0882-CC7C-63C6-BF208A7AF5A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BB5080F-ACDE-805A-7367-4C5A7B61728E}"/>
              </a:ext>
            </a:extLst>
          </p:cNvPr>
          <p:cNvSpPr txBox="1"/>
          <p:nvPr/>
        </p:nvSpPr>
        <p:spPr>
          <a:xfrm>
            <a:off x="171450" y="247650"/>
            <a:ext cx="6457950" cy="6340197"/>
          </a:xfrm>
          <a:prstGeom prst="rect">
            <a:avLst/>
          </a:prstGeom>
          <a:noFill/>
        </p:spPr>
        <p:txBody>
          <a:bodyPr wrap="square" rtlCol="0">
            <a:spAutoFit/>
          </a:bodyPr>
          <a:lstStyle/>
          <a:p>
            <a:r>
              <a:rPr lang="de-DE" sz="1400" dirty="0"/>
              <a:t>Wertungsphase</a:t>
            </a:r>
          </a:p>
          <a:p>
            <a:r>
              <a:rPr lang="de-DE" sz="1100" dirty="0"/>
              <a:t>In der Wertungsphase wird der ökologische Fußabdruck </a:t>
            </a:r>
            <a:r>
              <a:rPr lang="de-DE" sz="1100" i="1" dirty="0"/>
              <a:t>(?)</a:t>
            </a:r>
            <a:r>
              <a:rPr lang="de-DE" sz="1100" dirty="0"/>
              <a:t> der Häuser der Spieler:innen bestimmt. Dazu werden die Trackingleisten abgerechnet und daraus der </a:t>
            </a:r>
            <a:r>
              <a:rPr lang="de-DE" sz="1100" b="1" i="1" dirty="0"/>
              <a:t>Netzbezug</a:t>
            </a:r>
            <a:r>
              <a:rPr lang="de-DE" sz="1100" dirty="0"/>
              <a:t>, die </a:t>
            </a:r>
            <a:r>
              <a:rPr lang="de-DE" sz="1100" b="1" i="1" dirty="0"/>
              <a:t>CO</a:t>
            </a:r>
            <a:r>
              <a:rPr lang="de-DE" sz="1100" b="1" i="1" baseline="-25000" dirty="0"/>
              <a:t>2</a:t>
            </a:r>
            <a:r>
              <a:rPr lang="de-DE" sz="1100" b="1" i="1" dirty="0"/>
              <a:t> Emissionen</a:t>
            </a:r>
            <a:r>
              <a:rPr lang="de-DE" sz="1100" dirty="0"/>
              <a:t>, und das </a:t>
            </a:r>
            <a:r>
              <a:rPr lang="de-DE" sz="1100" b="1" i="1" dirty="0"/>
              <a:t>Budget</a:t>
            </a:r>
            <a:r>
              <a:rPr lang="de-DE" sz="1100" dirty="0"/>
              <a:t> für die Folgerunden bestimmt.</a:t>
            </a:r>
          </a:p>
          <a:p>
            <a:r>
              <a:rPr lang="de-DE" sz="1200" b="1" i="1" dirty="0"/>
              <a:t>Netzbezug</a:t>
            </a:r>
            <a:r>
              <a:rPr lang="de-DE" sz="1200" dirty="0"/>
              <a:t> bestimmen</a:t>
            </a:r>
          </a:p>
          <a:p>
            <a:r>
              <a:rPr lang="de-DE" sz="1100" dirty="0"/>
              <a:t>Zuerst wird der </a:t>
            </a:r>
            <a:r>
              <a:rPr lang="de-DE" sz="1100" b="1" i="1" dirty="0"/>
              <a:t>Netzbezug</a:t>
            </a:r>
            <a:r>
              <a:rPr lang="de-DE" sz="1100" dirty="0"/>
              <a:t> bestimmt. Dazu schaust du auf die folgenden Trackingleisten und summierst die Werte:</a:t>
            </a:r>
          </a:p>
          <a:p>
            <a:r>
              <a:rPr lang="de-DE" sz="1100" b="1" i="1" dirty="0"/>
              <a:t>	Heiztabelle</a:t>
            </a:r>
            <a:r>
              <a:rPr lang="de-DE" sz="1100" dirty="0"/>
              <a:t> – Prüfe ob eine </a:t>
            </a:r>
            <a:r>
              <a:rPr lang="de-DE" sz="1100" i="1" dirty="0"/>
              <a:t>Wärmepumpe </a:t>
            </a:r>
            <a:r>
              <a:rPr lang="de-DE" sz="1100" dirty="0"/>
              <a:t>installiert ist. Falls ja, entsteht hier ein </a:t>
            </a:r>
            <a:r>
              <a:rPr lang="de-DE" sz="1100" b="1" i="1" dirty="0"/>
              <a:t>Netzbezug</a:t>
            </a:r>
          </a:p>
          <a:p>
            <a:r>
              <a:rPr lang="de-DE" sz="1100" i="1" dirty="0"/>
              <a:t>	</a:t>
            </a:r>
            <a:r>
              <a:rPr lang="de-DE" sz="1100" b="1" i="1" dirty="0"/>
              <a:t>Strombedarf </a:t>
            </a:r>
            <a:r>
              <a:rPr lang="de-DE" sz="1100" i="1" dirty="0"/>
              <a:t>– </a:t>
            </a:r>
            <a:r>
              <a:rPr lang="de-DE" sz="1100" dirty="0"/>
              <a:t>Hier entsteht immer ein </a:t>
            </a:r>
            <a:r>
              <a:rPr lang="de-DE" sz="1100" b="1" i="1" dirty="0"/>
              <a:t>Netzbezug</a:t>
            </a:r>
          </a:p>
          <a:p>
            <a:r>
              <a:rPr lang="de-DE" sz="1100" b="1" i="1" dirty="0"/>
              <a:t>	Stromproduktion</a:t>
            </a:r>
            <a:r>
              <a:rPr lang="de-DE" sz="1100" dirty="0"/>
              <a:t> – Falls du Maßnahmen zur </a:t>
            </a:r>
            <a:r>
              <a:rPr lang="de-DE" sz="1100" b="1" i="1" dirty="0"/>
              <a:t>Stromproduktion</a:t>
            </a:r>
            <a:r>
              <a:rPr lang="de-DE" sz="1100" dirty="0"/>
              <a:t> getroffen hast, kann hier der 	</a:t>
            </a:r>
            <a:r>
              <a:rPr lang="de-DE" sz="1100" b="1" i="1" dirty="0"/>
              <a:t>Netzbezug </a:t>
            </a:r>
            <a:r>
              <a:rPr lang="de-DE" sz="1100" dirty="0"/>
              <a:t>reduziert werden</a:t>
            </a:r>
          </a:p>
          <a:p>
            <a:r>
              <a:rPr lang="de-DE" sz="1100" b="1" i="1" dirty="0"/>
              <a:t>	Stromspeicher</a:t>
            </a:r>
            <a:r>
              <a:rPr lang="de-DE" sz="1100" dirty="0"/>
              <a:t> – Nur in Kombination mit der </a:t>
            </a:r>
            <a:r>
              <a:rPr lang="de-DE" sz="1100" b="1" i="1" dirty="0"/>
              <a:t>Stromproduktion </a:t>
            </a:r>
            <a:r>
              <a:rPr lang="de-DE" sz="1100" dirty="0"/>
              <a:t>kann hier </a:t>
            </a:r>
            <a:r>
              <a:rPr lang="de-DE" sz="1100" b="1" i="1" dirty="0"/>
              <a:t>Netzbezug </a:t>
            </a:r>
            <a:r>
              <a:rPr lang="de-DE" sz="1100" dirty="0"/>
              <a:t>eingespart 	werden</a:t>
            </a:r>
          </a:p>
          <a:p>
            <a:r>
              <a:rPr lang="de-DE" sz="1100" dirty="0"/>
              <a:t>Die Summe aus diesen Zahlen ergibt deinen Gesamt-</a:t>
            </a:r>
            <a:r>
              <a:rPr lang="de-DE" sz="1100" b="1" i="1" dirty="0"/>
              <a:t>Netzbezug</a:t>
            </a:r>
            <a:r>
              <a:rPr lang="de-DE" sz="1100" dirty="0"/>
              <a:t>. Auf der entsprechenden Tabelle kannst du ablesen wieviele </a:t>
            </a:r>
            <a:r>
              <a:rPr lang="de-DE" sz="1100" b="1" i="1" dirty="0"/>
              <a:t>CO</a:t>
            </a:r>
            <a:r>
              <a:rPr lang="de-DE" sz="1100" b="1" i="1" baseline="-25000" dirty="0"/>
              <a:t>2</a:t>
            </a:r>
            <a:r>
              <a:rPr lang="de-DE" sz="1100" b="1" i="1" dirty="0"/>
              <a:t> Emissionen</a:t>
            </a:r>
            <a:r>
              <a:rPr lang="de-DE" sz="1100" dirty="0"/>
              <a:t> dadurch entstehen und wie dein </a:t>
            </a:r>
            <a:r>
              <a:rPr lang="de-DE" sz="1100" b="1" i="1" dirty="0"/>
              <a:t>Budget</a:t>
            </a:r>
            <a:r>
              <a:rPr lang="de-DE" sz="1100" dirty="0"/>
              <a:t> für die Folgerunden beeinflusst wird.</a:t>
            </a:r>
          </a:p>
          <a:p>
            <a:r>
              <a:rPr lang="de-DE" sz="1400" b="1" i="1" dirty="0"/>
              <a:t>Budget </a:t>
            </a:r>
            <a:r>
              <a:rPr lang="de-DE" sz="1400" dirty="0"/>
              <a:t>bestimmen</a:t>
            </a:r>
          </a:p>
          <a:p>
            <a:r>
              <a:rPr lang="de-DE" sz="1100" dirty="0"/>
              <a:t>Als nächstes kann das </a:t>
            </a:r>
            <a:r>
              <a:rPr lang="de-DE" sz="1100" b="1" i="1" dirty="0"/>
              <a:t>Budget </a:t>
            </a:r>
            <a:r>
              <a:rPr lang="de-DE" sz="1100" dirty="0"/>
              <a:t>bestimmt werden. Dazu schaust du auf die folgenden Trackingleisten und summierst die Werte:</a:t>
            </a:r>
          </a:p>
          <a:p>
            <a:r>
              <a:rPr lang="de-DE" sz="1100" dirty="0"/>
              <a:t>	</a:t>
            </a:r>
            <a:r>
              <a:rPr lang="de-DE" sz="1100" b="1" i="1" dirty="0"/>
              <a:t>Zufriedenheit </a:t>
            </a:r>
            <a:r>
              <a:rPr lang="de-DE" sz="1100" dirty="0"/>
              <a:t>– Die Zufriedenheit der Mieter gibt auch die Zahlungswilligkeit an</a:t>
            </a:r>
          </a:p>
          <a:p>
            <a:r>
              <a:rPr lang="de-DE" sz="1100" b="1" i="1" dirty="0"/>
              <a:t>	Heiztabelle</a:t>
            </a:r>
            <a:r>
              <a:rPr lang="de-DE" sz="1100" dirty="0"/>
              <a:t> – Je nach </a:t>
            </a:r>
            <a:r>
              <a:rPr lang="de-DE" sz="1100" b="1" i="1" dirty="0"/>
              <a:t>Wärmeschutz</a:t>
            </a:r>
            <a:r>
              <a:rPr lang="de-DE" sz="1100" dirty="0"/>
              <a:t> und </a:t>
            </a:r>
            <a:r>
              <a:rPr lang="de-DE" sz="1100" b="1" i="1" dirty="0"/>
              <a:t>Heizsystem</a:t>
            </a:r>
            <a:r>
              <a:rPr lang="de-DE" sz="1100" dirty="0"/>
              <a:t> kann hier Geld eingespart werden</a:t>
            </a:r>
          </a:p>
          <a:p>
            <a:r>
              <a:rPr lang="de-DE" sz="1100" b="1" i="1" dirty="0"/>
              <a:t>	Netzbezug</a:t>
            </a:r>
            <a:r>
              <a:rPr lang="de-DE" sz="1100" dirty="0"/>
              <a:t> – Der </a:t>
            </a:r>
            <a:r>
              <a:rPr lang="de-DE" sz="1100" b="1" i="1" dirty="0"/>
              <a:t>Netzbezug</a:t>
            </a:r>
            <a:r>
              <a:rPr lang="de-DE" sz="1100" dirty="0"/>
              <a:t> aus dem vorherigen Schritt beeinflusst das </a:t>
            </a:r>
            <a:r>
              <a:rPr lang="de-DE" sz="1100" b="1" i="1" dirty="0"/>
              <a:t>Budget</a:t>
            </a:r>
          </a:p>
          <a:p>
            <a:r>
              <a:rPr lang="de-DE" sz="1400" b="1" i="1" dirty="0"/>
              <a:t>CO</a:t>
            </a:r>
            <a:r>
              <a:rPr lang="de-DE" sz="1400" b="1" i="1" baseline="-25000" dirty="0"/>
              <a:t>2</a:t>
            </a:r>
            <a:r>
              <a:rPr lang="de-DE" sz="1400" b="1" i="1" dirty="0"/>
              <a:t> Emissionen </a:t>
            </a:r>
            <a:r>
              <a:rPr lang="de-DE" sz="1400" dirty="0"/>
              <a:t>bestimmen</a:t>
            </a:r>
          </a:p>
          <a:p>
            <a:r>
              <a:rPr lang="de-DE" sz="1100" dirty="0"/>
              <a:t>Als letztes werden die verursachten Emissionen bestimmt. Dazu schaust du auf die folgenden Trackingleisten und trägst die Werte auf der Punkteliste </a:t>
            </a:r>
            <a:r>
              <a:rPr lang="de-DE" sz="1100" i="1" dirty="0"/>
              <a:t>(?)</a:t>
            </a:r>
            <a:r>
              <a:rPr lang="de-DE" sz="1100" dirty="0"/>
              <a:t> ab.</a:t>
            </a:r>
          </a:p>
          <a:p>
            <a:r>
              <a:rPr lang="de-DE" sz="1100" dirty="0"/>
              <a:t>	</a:t>
            </a:r>
            <a:r>
              <a:rPr lang="de-DE" sz="1100" b="1" i="1" dirty="0"/>
              <a:t>Heiztabelle</a:t>
            </a:r>
            <a:r>
              <a:rPr lang="de-DE" sz="1100" dirty="0"/>
              <a:t> – Aus der Kombination von </a:t>
            </a:r>
            <a:r>
              <a:rPr lang="de-DE" sz="1100" b="1" i="1" dirty="0"/>
              <a:t>Wärmeschutz</a:t>
            </a:r>
            <a:r>
              <a:rPr lang="de-DE" sz="1100" dirty="0"/>
              <a:t> und </a:t>
            </a:r>
            <a:r>
              <a:rPr lang="de-DE" sz="1100" b="1" i="1" dirty="0"/>
              <a:t>Heizsystem</a:t>
            </a:r>
            <a:r>
              <a:rPr lang="de-DE" sz="1100" dirty="0"/>
              <a:t> ergeben sich 	Emissionen</a:t>
            </a:r>
          </a:p>
          <a:p>
            <a:r>
              <a:rPr lang="de-DE" sz="1100" dirty="0"/>
              <a:t>	</a:t>
            </a:r>
            <a:r>
              <a:rPr lang="de-DE" sz="1100" b="1" i="1" dirty="0"/>
              <a:t>Netzbezug</a:t>
            </a:r>
            <a:r>
              <a:rPr lang="de-DE" sz="1100" dirty="0"/>
              <a:t> – Aus dem </a:t>
            </a:r>
            <a:r>
              <a:rPr lang="de-DE" sz="1100" b="1" i="1" dirty="0"/>
              <a:t>Netzbezug</a:t>
            </a:r>
            <a:r>
              <a:rPr lang="de-DE" sz="1100" dirty="0"/>
              <a:t> aus dem ersten Wertungsschritt ergeben sich Emissionen</a:t>
            </a:r>
          </a:p>
          <a:p>
            <a:r>
              <a:rPr lang="de-DE" sz="1100" b="1" i="1" dirty="0"/>
              <a:t>	Betriebliche Emissionen</a:t>
            </a:r>
            <a:r>
              <a:rPr lang="de-DE" sz="1100" dirty="0"/>
              <a:t> – Die </a:t>
            </a:r>
            <a:r>
              <a:rPr lang="de-DE" sz="1100" b="1" i="1" dirty="0"/>
              <a:t>Betrieblichen Emissionen </a:t>
            </a:r>
            <a:r>
              <a:rPr lang="de-DE" sz="1100" dirty="0"/>
              <a:t>werden abgerechnet</a:t>
            </a:r>
          </a:p>
          <a:p>
            <a:endParaRPr lang="de-DE" sz="1100" dirty="0"/>
          </a:p>
          <a:p>
            <a:endParaRPr lang="de-DE" sz="1100" dirty="0"/>
          </a:p>
          <a:p>
            <a:r>
              <a:rPr lang="de-DE" sz="1100" dirty="0"/>
              <a:t>*****</a:t>
            </a:r>
          </a:p>
          <a:p>
            <a:r>
              <a:rPr lang="de-DE" sz="1100" dirty="0"/>
              <a:t>Auswahl – Die Spieler:in wählt eine Kategorie, also einen Maßnahmenstapel und schaut die obersten drei Karten an. Eine von diesen Karten darf, wenn möglich, installiert werden.</a:t>
            </a:r>
          </a:p>
          <a:p>
            <a:r>
              <a:rPr lang="de-DE" sz="1100" dirty="0"/>
              <a:t>Auswahl – Die Spieler:innen erhalten zu Beginn jeder Runde 7 Karten und dürfen in ihrem Zug eine der Karten auswählen und wenn möglich installieren.</a:t>
            </a:r>
          </a:p>
        </p:txBody>
      </p:sp>
    </p:spTree>
    <p:extLst>
      <p:ext uri="{BB962C8B-B14F-4D97-AF65-F5344CB8AC3E}">
        <p14:creationId xmlns:p14="http://schemas.microsoft.com/office/powerpoint/2010/main" val="118226851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1056</Words>
  <Application>Microsoft Office PowerPoint</Application>
  <PresentationFormat>A4 Paper (210x297 mm)</PresentationFormat>
  <Paragraphs>78</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Verweyen</dc:creator>
  <cp:lastModifiedBy>Thomas Verweyen</cp:lastModifiedBy>
  <cp:revision>2</cp:revision>
  <dcterms:created xsi:type="dcterms:W3CDTF">2026-09-03T04:37:59Z</dcterms:created>
  <dcterms:modified xsi:type="dcterms:W3CDTF">2026-09-03T12:57:32Z</dcterms:modified>
</cp:coreProperties>
</file>